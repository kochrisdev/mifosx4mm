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7"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FCC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109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"Hey everyone, thanks for joining. Today I want to walk you through what we've been building — or more precisely, what we've been learning this past week. The project is called MifosX4MM. It's a full-stack microfinance platform built for Myanmar. By the end of this session, you should have a solid mental model of how the whole system fits together — even if you haven't touched the code yet."</a:t>
            </a: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"So what is this thing exactly? At its core, MifosX4MM is a platform that helps microfinance institutions — or MFIs — manage their loan operations. Think loan officers out in the field registering clients, branch managers approving loans from the office, and customers repaying through KBZ Pay on their phones.</a:t>
            </a:r>
          </a:p>
          <a:p>
            <a:r>
              <a:rPr lang="en-US" sz="1200" b="0" i="0" kern="1200" dirty="0">
                <a:solidFill>
                  <a:schemeClr val="tx1"/>
                </a:solidFill>
                <a:effectLst/>
                <a:latin typeface="+mn-lt"/>
                <a:ea typeface="+mn-ea"/>
                <a:cs typeface="+mn-cs"/>
              </a:rPr>
              <a:t>The big thing to understand here is that we didn't build a banking system from scratch. We built on top of Apache </a:t>
            </a:r>
            <a:r>
              <a:rPr lang="en-US" sz="1200" b="0" i="0" kern="1200" dirty="0" err="1">
                <a:solidFill>
                  <a:schemeClr val="tx1"/>
                </a:solidFill>
                <a:effectLst/>
                <a:latin typeface="+mn-lt"/>
                <a:ea typeface="+mn-ea"/>
                <a:cs typeface="+mn-cs"/>
              </a:rPr>
              <a:t>Fineract</a:t>
            </a:r>
            <a:r>
              <a:rPr lang="en-US" sz="1200" b="0" i="0" kern="1200" dirty="0">
                <a:solidFill>
                  <a:schemeClr val="tx1"/>
                </a:solidFill>
                <a:effectLst/>
                <a:latin typeface="+mn-lt"/>
                <a:ea typeface="+mn-ea"/>
                <a:cs typeface="+mn-cs"/>
              </a:rPr>
              <a:t> — that's an open-source core banking engine used by over 100 institutions worldwide. We wrap it with our own API gateway, we don't fork it. That's a key architectural decision — it means we get free upgrades and battle-tested reliability.</a:t>
            </a:r>
          </a:p>
          <a:p>
            <a:r>
              <a:rPr lang="en-US" sz="1200" b="0" i="0" kern="1200" dirty="0">
                <a:solidFill>
                  <a:schemeClr val="tx1"/>
                </a:solidFill>
                <a:effectLst/>
                <a:latin typeface="+mn-lt"/>
                <a:ea typeface="+mn-ea"/>
                <a:cs typeface="+mn-cs"/>
              </a:rPr>
              <a:t>Quick numbers to anchor you: 7 microservices, 5 user roles, 2 databases."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look at how all the pieces connect. Reading top to bottom:</a:t>
            </a:r>
          </a:p>
          <a:p>
            <a:r>
              <a:rPr lang="en-US" sz="1200" b="0" i="0" kern="1200" dirty="0">
                <a:solidFill>
                  <a:schemeClr val="tx1"/>
                </a:solidFill>
                <a:effectLst/>
                <a:latin typeface="+mn-lt"/>
                <a:ea typeface="+mn-ea"/>
                <a:cs typeface="+mn-cs"/>
              </a:rPr>
              <a:t>At the top are the clients — the web portal running on Next.js at port 3000, and the mobile app built with Expo React Native. Both of them talk to one thing only — the API Gateway.</a:t>
            </a:r>
          </a:p>
          <a:p>
            <a:r>
              <a:rPr lang="en-US" sz="1200" b="0" i="0" kern="1200" dirty="0">
                <a:solidFill>
                  <a:schemeClr val="tx1"/>
                </a:solidFill>
                <a:effectLst/>
                <a:latin typeface="+mn-lt"/>
                <a:ea typeface="+mn-ea"/>
                <a:cs typeface="+mn-cs"/>
              </a:rPr>
              <a:t>The API Gateway is the brain. It runs on </a:t>
            </a:r>
            <a:r>
              <a:rPr lang="en-US" sz="1200" b="0" i="0" kern="1200" dirty="0" err="1">
                <a:solidFill>
                  <a:schemeClr val="tx1"/>
                </a:solidFill>
                <a:effectLst/>
                <a:latin typeface="+mn-lt"/>
                <a:ea typeface="+mn-ea"/>
                <a:cs typeface="+mn-cs"/>
              </a:rPr>
              <a:t>Fastify</a:t>
            </a:r>
            <a:r>
              <a:rPr lang="en-US" sz="1200" b="0" i="0" kern="1200" dirty="0">
                <a:solidFill>
                  <a:schemeClr val="tx1"/>
                </a:solidFill>
                <a:effectLst/>
                <a:latin typeface="+mn-lt"/>
                <a:ea typeface="+mn-ea"/>
                <a:cs typeface="+mn-cs"/>
              </a:rPr>
              <a:t> at port 3001. Every request from the browser or mobile app goes through here. It handles authentication using JWT tokens and authorization using role checks.</a:t>
            </a:r>
          </a:p>
          <a:p>
            <a:r>
              <a:rPr lang="en-US" sz="1200" b="0" i="0" kern="1200" dirty="0">
                <a:solidFill>
                  <a:schemeClr val="tx1"/>
                </a:solidFill>
                <a:effectLst/>
                <a:latin typeface="+mn-lt"/>
                <a:ea typeface="+mn-ea"/>
                <a:cs typeface="+mn-cs"/>
              </a:rPr>
              <a:t>Below the gateway, you have five services: </a:t>
            </a:r>
            <a:r>
              <a:rPr lang="en-US" sz="1200" b="0" i="0" kern="1200" dirty="0" err="1">
                <a:solidFill>
                  <a:schemeClr val="tx1"/>
                </a:solidFill>
                <a:effectLst/>
                <a:latin typeface="+mn-lt"/>
                <a:ea typeface="+mn-ea"/>
                <a:cs typeface="+mn-cs"/>
              </a:rPr>
              <a:t>Keycloak</a:t>
            </a:r>
            <a:r>
              <a:rPr lang="en-US" sz="1200" b="0" i="0" kern="1200" dirty="0">
                <a:solidFill>
                  <a:schemeClr val="tx1"/>
                </a:solidFill>
                <a:effectLst/>
                <a:latin typeface="+mn-lt"/>
                <a:ea typeface="+mn-ea"/>
                <a:cs typeface="+mn-cs"/>
              </a:rPr>
              <a:t> for identity, </a:t>
            </a:r>
            <a:r>
              <a:rPr lang="en-US" sz="1200" b="0" i="0" kern="1200" dirty="0" err="1">
                <a:solidFill>
                  <a:schemeClr val="tx1"/>
                </a:solidFill>
                <a:effectLst/>
                <a:latin typeface="+mn-lt"/>
                <a:ea typeface="+mn-ea"/>
                <a:cs typeface="+mn-cs"/>
              </a:rPr>
              <a:t>Fineract</a:t>
            </a:r>
            <a:r>
              <a:rPr lang="en-US" sz="1200" b="0" i="0" kern="1200" dirty="0">
                <a:solidFill>
                  <a:schemeClr val="tx1"/>
                </a:solidFill>
                <a:effectLst/>
                <a:latin typeface="+mn-lt"/>
                <a:ea typeface="+mn-ea"/>
                <a:cs typeface="+mn-cs"/>
              </a:rPr>
              <a:t> for core banking, the mobile money service for KBZ Pay, the KYC service for identity verification, and the reporting service built in Python.</a:t>
            </a:r>
          </a:p>
          <a:p>
            <a:r>
              <a:rPr lang="en-US" sz="1200" b="0" i="0" kern="1200" dirty="0">
                <a:solidFill>
                  <a:schemeClr val="tx1"/>
                </a:solidFill>
                <a:effectLst/>
                <a:latin typeface="+mn-lt"/>
                <a:ea typeface="+mn-ea"/>
                <a:cs typeface="+mn-cs"/>
              </a:rPr>
              <a:t>At the bottom are the databases. MySQL powers </a:t>
            </a:r>
            <a:r>
              <a:rPr lang="en-US" sz="1200" b="0" i="0" kern="1200" dirty="0" err="1">
                <a:solidFill>
                  <a:schemeClr val="tx1"/>
                </a:solidFill>
                <a:effectLst/>
                <a:latin typeface="+mn-lt"/>
                <a:ea typeface="+mn-ea"/>
                <a:cs typeface="+mn-cs"/>
              </a:rPr>
              <a:t>Fineract</a:t>
            </a:r>
            <a:r>
              <a:rPr lang="en-US" sz="1200" b="0" i="0" kern="1200" dirty="0">
                <a:solidFill>
                  <a:schemeClr val="tx1"/>
                </a:solidFill>
                <a:effectLst/>
                <a:latin typeface="+mn-lt"/>
                <a:ea typeface="+mn-ea"/>
                <a:cs typeface="+mn-cs"/>
              </a:rPr>
              <a:t>. PostgreSQL is used by both </a:t>
            </a:r>
            <a:r>
              <a:rPr lang="en-US" sz="1200" b="0" i="0" kern="1200" dirty="0" err="1">
                <a:solidFill>
                  <a:schemeClr val="tx1"/>
                </a:solidFill>
                <a:effectLst/>
                <a:latin typeface="+mn-lt"/>
                <a:ea typeface="+mn-ea"/>
                <a:cs typeface="+mn-cs"/>
              </a:rPr>
              <a:t>Keycloak</a:t>
            </a:r>
            <a:r>
              <a:rPr lang="en-US" sz="1200" b="0" i="0" kern="1200" dirty="0">
                <a:solidFill>
                  <a:schemeClr val="tx1"/>
                </a:solidFill>
                <a:effectLst/>
                <a:latin typeface="+mn-lt"/>
                <a:ea typeface="+mn-ea"/>
                <a:cs typeface="+mn-cs"/>
              </a:rPr>
              <a:t> and the reporting service — but they're separate databases.</a:t>
            </a:r>
          </a:p>
          <a:p>
            <a:r>
              <a:rPr lang="en-US" sz="1200" b="0" i="0" kern="1200" dirty="0">
                <a:solidFill>
                  <a:schemeClr val="tx1"/>
                </a:solidFill>
                <a:effectLst/>
                <a:latin typeface="+mn-lt"/>
                <a:ea typeface="+mn-ea"/>
                <a:cs typeface="+mn-cs"/>
              </a:rPr>
              <a:t>This layered architecture means each service has one job and does it well."</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 me quickly name all eight services so you know what you're dealing with. I know the slide says seven — we have seven custom services plus Apache </a:t>
            </a:r>
            <a:r>
              <a:rPr lang="en-US" sz="1200" b="0" i="0" kern="1200" dirty="0" err="1">
                <a:solidFill>
                  <a:schemeClr val="tx1"/>
                </a:solidFill>
                <a:effectLst/>
                <a:latin typeface="+mn-lt"/>
                <a:ea typeface="+mn-ea"/>
                <a:cs typeface="+mn-cs"/>
              </a:rPr>
              <a:t>Fineract</a:t>
            </a:r>
            <a:r>
              <a:rPr lang="en-US" sz="1200" b="0" i="0" kern="1200" dirty="0">
                <a:solidFill>
                  <a:schemeClr val="tx1"/>
                </a:solidFill>
                <a:effectLst/>
                <a:latin typeface="+mn-lt"/>
                <a:ea typeface="+mn-ea"/>
                <a:cs typeface="+mn-cs"/>
              </a:rPr>
              <a:t> which we run as a Docker container.</a:t>
            </a:r>
          </a:p>
          <a:p>
            <a:r>
              <a:rPr lang="en-US" sz="1200" b="1" i="0" kern="1200" dirty="0">
                <a:solidFill>
                  <a:schemeClr val="tx1"/>
                </a:solidFill>
                <a:effectLst/>
                <a:latin typeface="+mn-lt"/>
                <a:ea typeface="+mn-ea"/>
                <a:cs typeface="+mn-cs"/>
              </a:rPr>
              <a:t>Web Portal</a:t>
            </a:r>
            <a:r>
              <a:rPr lang="en-US" sz="1200" b="0" i="0" kern="1200" dirty="0">
                <a:solidFill>
                  <a:schemeClr val="tx1"/>
                </a:solidFill>
                <a:effectLst/>
                <a:latin typeface="+mn-lt"/>
                <a:ea typeface="+mn-ea"/>
                <a:cs typeface="+mn-cs"/>
              </a:rPr>
              <a:t> — the staff-facing dashboard. Branch managers and loan officers log in here to approve loans, track collections, see the dashboard.</a:t>
            </a:r>
          </a:p>
          <a:p>
            <a:r>
              <a:rPr lang="en-US" sz="1200" b="1" i="0" kern="1200" dirty="0">
                <a:solidFill>
                  <a:schemeClr val="tx1"/>
                </a:solidFill>
                <a:effectLst/>
                <a:latin typeface="+mn-lt"/>
                <a:ea typeface="+mn-ea"/>
                <a:cs typeface="+mn-cs"/>
              </a:rPr>
              <a:t>Mobile App</a:t>
            </a:r>
            <a:r>
              <a:rPr lang="en-US" sz="1200" b="0" i="0" kern="1200" dirty="0">
                <a:solidFill>
                  <a:schemeClr val="tx1"/>
                </a:solidFill>
                <a:effectLst/>
                <a:latin typeface="+mn-lt"/>
                <a:ea typeface="+mn-ea"/>
                <a:cs typeface="+mn-cs"/>
              </a:rPr>
              <a:t> — built with Expo. This is what field loan officers use on their phones to register clients, submit KYC, and collect repayments.</a:t>
            </a:r>
          </a:p>
          <a:p>
            <a:r>
              <a:rPr lang="en-US" sz="1200" b="1" i="0" kern="1200" dirty="0">
                <a:solidFill>
                  <a:schemeClr val="tx1"/>
                </a:solidFill>
                <a:effectLst/>
                <a:latin typeface="+mn-lt"/>
                <a:ea typeface="+mn-ea"/>
                <a:cs typeface="+mn-cs"/>
              </a:rPr>
              <a:t>API Gateway</a:t>
            </a:r>
            <a:r>
              <a:rPr lang="en-US" sz="1200" b="0" i="0" kern="1200" dirty="0">
                <a:solidFill>
                  <a:schemeClr val="tx1"/>
                </a:solidFill>
                <a:effectLst/>
                <a:latin typeface="+mn-lt"/>
                <a:ea typeface="+mn-ea"/>
                <a:cs typeface="+mn-cs"/>
              </a:rPr>
              <a:t> — the single entry point. Auth, routing, RBAC. All traffic goes through here.</a:t>
            </a:r>
          </a:p>
          <a:p>
            <a:r>
              <a:rPr lang="en-US" sz="1200" b="1" i="0" kern="1200" dirty="0">
                <a:solidFill>
                  <a:schemeClr val="tx1"/>
                </a:solidFill>
                <a:effectLst/>
                <a:latin typeface="+mn-lt"/>
                <a:ea typeface="+mn-ea"/>
                <a:cs typeface="+mn-cs"/>
              </a:rPr>
              <a:t>Mobile Money</a:t>
            </a:r>
            <a:r>
              <a:rPr lang="en-US" sz="1200" b="0" i="0" kern="1200" dirty="0">
                <a:solidFill>
                  <a:schemeClr val="tx1"/>
                </a:solidFill>
                <a:effectLst/>
                <a:latin typeface="+mn-lt"/>
                <a:ea typeface="+mn-ea"/>
                <a:cs typeface="+mn-cs"/>
              </a:rPr>
              <a:t> — handles all KBZ Pay interactions. Payment initiation, signature verification, webhook callbacks.</a:t>
            </a:r>
          </a:p>
          <a:p>
            <a:r>
              <a:rPr lang="en-US" sz="1200" b="1" i="0" kern="1200" dirty="0">
                <a:solidFill>
                  <a:schemeClr val="tx1"/>
                </a:solidFill>
                <a:effectLst/>
                <a:latin typeface="+mn-lt"/>
                <a:ea typeface="+mn-ea"/>
                <a:cs typeface="+mn-cs"/>
              </a:rPr>
              <a:t>KYC Service</a:t>
            </a:r>
            <a:r>
              <a:rPr lang="en-US" sz="1200" b="0" i="0" kern="1200" dirty="0">
                <a:solidFill>
                  <a:schemeClr val="tx1"/>
                </a:solidFill>
                <a:effectLst/>
                <a:latin typeface="+mn-lt"/>
                <a:ea typeface="+mn-ea"/>
                <a:cs typeface="+mn-cs"/>
              </a:rPr>
              <a:t> — identity verification with a pluggable architecture. More on that in a later slide.</a:t>
            </a:r>
          </a:p>
          <a:p>
            <a:r>
              <a:rPr lang="en-US" sz="1200" b="1" i="0" kern="1200" dirty="0">
                <a:solidFill>
                  <a:schemeClr val="tx1"/>
                </a:solidFill>
                <a:effectLst/>
                <a:latin typeface="+mn-lt"/>
                <a:ea typeface="+mn-ea"/>
                <a:cs typeface="+mn-cs"/>
              </a:rPr>
              <a:t>Reporting</a:t>
            </a:r>
            <a:r>
              <a:rPr lang="en-US" sz="1200" b="0" i="0" kern="1200" dirty="0">
                <a:solidFill>
                  <a:schemeClr val="tx1"/>
                </a:solidFill>
                <a:effectLst/>
                <a:latin typeface="+mn-lt"/>
                <a:ea typeface="+mn-ea"/>
                <a:cs typeface="+mn-cs"/>
              </a:rPr>
              <a:t> — written in Python. Calculates PAR and collections data directly from SQL.</a:t>
            </a:r>
          </a:p>
          <a:p>
            <a:r>
              <a:rPr lang="en-US" sz="1200" b="1" i="0" kern="1200" dirty="0" err="1">
                <a:solidFill>
                  <a:schemeClr val="tx1"/>
                </a:solidFill>
                <a:effectLst/>
                <a:latin typeface="+mn-lt"/>
                <a:ea typeface="+mn-ea"/>
                <a:cs typeface="+mn-cs"/>
              </a:rPr>
              <a:t>Keycloak</a:t>
            </a:r>
            <a:r>
              <a:rPr lang="en-US" sz="1200" b="0" i="0" kern="1200" dirty="0">
                <a:solidFill>
                  <a:schemeClr val="tx1"/>
                </a:solidFill>
                <a:effectLst/>
                <a:latin typeface="+mn-lt"/>
                <a:ea typeface="+mn-ea"/>
                <a:cs typeface="+mn-cs"/>
              </a:rPr>
              <a:t> — the identity provider. Issues JWT tokens, manages users and roles.</a:t>
            </a:r>
          </a:p>
          <a:p>
            <a:r>
              <a:rPr lang="en-US" sz="1200" b="1" i="0" kern="1200" dirty="0">
                <a:solidFill>
                  <a:schemeClr val="tx1"/>
                </a:solidFill>
                <a:effectLst/>
                <a:latin typeface="+mn-lt"/>
                <a:ea typeface="+mn-ea"/>
                <a:cs typeface="+mn-cs"/>
              </a:rPr>
              <a:t>Apache </a:t>
            </a:r>
            <a:r>
              <a:rPr lang="en-US" sz="1200" b="1" i="0" kern="1200" dirty="0" err="1">
                <a:solidFill>
                  <a:schemeClr val="tx1"/>
                </a:solidFill>
                <a:effectLst/>
                <a:latin typeface="+mn-lt"/>
                <a:ea typeface="+mn-ea"/>
                <a:cs typeface="+mn-cs"/>
              </a:rPr>
              <a:t>Fineract</a:t>
            </a:r>
            <a:r>
              <a:rPr lang="en-US" sz="1200" b="0" i="0" kern="1200" dirty="0">
                <a:solidFill>
                  <a:schemeClr val="tx1"/>
                </a:solidFill>
                <a:effectLst/>
                <a:latin typeface="+mn-lt"/>
                <a:ea typeface="+mn-ea"/>
                <a:cs typeface="+mn-cs"/>
              </a:rPr>
              <a:t> — the core banking engine. Loans, clients, repayment schedules all live here."</a:t>
            </a: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"Before you can read the code confidently, you need the domain vocabulary. Let me cover three concepts.</a:t>
            </a:r>
          </a:p>
          <a:p>
            <a:r>
              <a:rPr lang="en-US" sz="1200" b="1" i="0" kern="1200" dirty="0">
                <a:solidFill>
                  <a:schemeClr val="tx1"/>
                </a:solidFill>
                <a:effectLst/>
                <a:latin typeface="+mn-lt"/>
                <a:ea typeface="+mn-ea"/>
                <a:cs typeface="+mn-cs"/>
              </a:rPr>
              <a:t>What is an MFI?</a:t>
            </a:r>
            <a:r>
              <a:rPr lang="en-US" sz="1200" b="0" i="0" kern="1200" dirty="0">
                <a:solidFill>
                  <a:schemeClr val="tx1"/>
                </a:solidFill>
                <a:effectLst/>
                <a:latin typeface="+mn-lt"/>
                <a:ea typeface="+mn-ea"/>
                <a:cs typeface="+mn-cs"/>
              </a:rPr>
              <a:t> A microfinance institution lends small amounts — we're talking MMK 50,000 to 2 million — to people who can't access traditional banks. They have no credit history, no collateral. The MFI uses field loan officers who physically visit clients. Apache </a:t>
            </a:r>
            <a:r>
              <a:rPr lang="en-US" sz="1200" b="0" i="0" kern="1200" dirty="0" err="1">
                <a:solidFill>
                  <a:schemeClr val="tx1"/>
                </a:solidFill>
                <a:effectLst/>
                <a:latin typeface="+mn-lt"/>
                <a:ea typeface="+mn-ea"/>
                <a:cs typeface="+mn-cs"/>
              </a:rPr>
              <a:t>Fineract</a:t>
            </a:r>
            <a:r>
              <a:rPr lang="en-US" sz="1200" b="0" i="0" kern="1200" dirty="0">
                <a:solidFill>
                  <a:schemeClr val="tx1"/>
                </a:solidFill>
                <a:effectLst/>
                <a:latin typeface="+mn-lt"/>
                <a:ea typeface="+mn-ea"/>
                <a:cs typeface="+mn-cs"/>
              </a:rPr>
              <a:t> was designed specifically for this model.</a:t>
            </a:r>
          </a:p>
          <a:p>
            <a:r>
              <a:rPr lang="en-US" sz="1200" b="1" i="0" kern="1200" dirty="0">
                <a:solidFill>
                  <a:schemeClr val="tx1"/>
                </a:solidFill>
                <a:effectLst/>
                <a:latin typeface="+mn-lt"/>
                <a:ea typeface="+mn-ea"/>
                <a:cs typeface="+mn-cs"/>
              </a:rPr>
              <a:t>PAR — Portfolio at Risk.</a:t>
            </a:r>
            <a:r>
              <a:rPr lang="en-US" sz="1200" b="0" i="0" kern="1200" dirty="0">
                <a:solidFill>
                  <a:schemeClr val="tx1"/>
                </a:solidFill>
                <a:effectLst/>
                <a:latin typeface="+mn-lt"/>
                <a:ea typeface="+mn-ea"/>
                <a:cs typeface="+mn-cs"/>
              </a:rPr>
              <a:t> This is the headline metric of any MFI. PAR30 means: what percentage of your loan portfolio has been overdue for more than 30 days? If PAR30 is 5%, that's acceptable. If it's 20%, the institution is in trouble. We also track PAR0 — anything one day late — and PAR90 for severe cases. We calculate this directly from SQL because </a:t>
            </a:r>
            <a:r>
              <a:rPr lang="en-US" sz="1200" b="0" i="0" kern="1200" dirty="0" err="1">
                <a:solidFill>
                  <a:schemeClr val="tx1"/>
                </a:solidFill>
                <a:effectLst/>
                <a:latin typeface="+mn-lt"/>
                <a:ea typeface="+mn-ea"/>
                <a:cs typeface="+mn-cs"/>
              </a:rPr>
              <a:t>Fineract's</a:t>
            </a:r>
            <a:r>
              <a:rPr lang="en-US" sz="1200" b="0" i="0" kern="1200" dirty="0">
                <a:solidFill>
                  <a:schemeClr val="tx1"/>
                </a:solidFill>
                <a:effectLst/>
                <a:latin typeface="+mn-lt"/>
                <a:ea typeface="+mn-ea"/>
                <a:cs typeface="+mn-cs"/>
              </a:rPr>
              <a:t> own flag only updates during a nightly batch job. Our SQL is real-time.</a:t>
            </a:r>
          </a:p>
          <a:p>
            <a:r>
              <a:rPr lang="en-US" sz="1200" b="1" i="0" kern="1200" dirty="0">
                <a:solidFill>
                  <a:schemeClr val="tx1"/>
                </a:solidFill>
                <a:effectLst/>
                <a:latin typeface="+mn-lt"/>
                <a:ea typeface="+mn-ea"/>
                <a:cs typeface="+mn-cs"/>
              </a:rPr>
              <a:t>Loan Lifecycle.</a:t>
            </a:r>
            <a:r>
              <a:rPr lang="en-US" sz="1200" b="0" i="0" kern="1200" dirty="0">
                <a:solidFill>
                  <a:schemeClr val="tx1"/>
                </a:solidFill>
                <a:effectLst/>
                <a:latin typeface="+mn-lt"/>
                <a:ea typeface="+mn-ea"/>
                <a:cs typeface="+mn-cs"/>
              </a:rPr>
              <a:t> A loan starts with client registration and KYC, moves through application, review, and approval, then gets disbursed. After that the repayment schedule is active and collections begin, usually via KBZ Pay. When all installments are paid, the loan closes. In </a:t>
            </a:r>
            <a:r>
              <a:rPr lang="en-US" sz="1200" b="0" i="0" kern="1200" dirty="0" err="1">
                <a:solidFill>
                  <a:schemeClr val="tx1"/>
                </a:solidFill>
                <a:effectLst/>
                <a:latin typeface="+mn-lt"/>
                <a:ea typeface="+mn-ea"/>
                <a:cs typeface="+mn-cs"/>
              </a:rPr>
              <a:t>Fineract's</a:t>
            </a:r>
            <a:r>
              <a:rPr lang="en-US" sz="1200" b="0" i="0" kern="1200" dirty="0">
                <a:solidFill>
                  <a:schemeClr val="tx1"/>
                </a:solidFill>
                <a:effectLst/>
                <a:latin typeface="+mn-lt"/>
                <a:ea typeface="+mn-ea"/>
                <a:cs typeface="+mn-cs"/>
              </a:rPr>
              <a:t> database, active loans have status 300 and closed loans have status 600."</a:t>
            </a:r>
          </a:p>
          <a:p>
            <a:r>
              <a:rPr lang="en-US" sz="1200" b="1" i="0" kern="1200" dirty="0">
                <a:solidFill>
                  <a:schemeClr val="tx1"/>
                </a:solidFill>
                <a:effectLst/>
                <a:latin typeface="+mn-lt"/>
                <a:ea typeface="+mn-ea"/>
                <a:cs typeface="+mn-cs"/>
              </a:rPr>
              <a:t>Tip:</a:t>
            </a:r>
            <a:r>
              <a:rPr lang="en-US" sz="1200" b="0" i="0" kern="1200" dirty="0">
                <a:solidFill>
                  <a:schemeClr val="tx1"/>
                </a:solidFill>
                <a:effectLst/>
                <a:latin typeface="+mn-lt"/>
                <a:ea typeface="+mn-ea"/>
                <a:cs typeface="+mn-cs"/>
              </a:rPr>
              <a:t> Pause here and ask the room: </a:t>
            </a:r>
            <a:r>
              <a:rPr lang="en-US" sz="1200" b="0" i="1" kern="1200" dirty="0">
                <a:solidFill>
                  <a:schemeClr val="tx1"/>
                </a:solidFill>
                <a:effectLst/>
                <a:latin typeface="+mn-lt"/>
                <a:ea typeface="+mn-ea"/>
                <a:cs typeface="+mn-cs"/>
              </a:rPr>
              <a:t>"What does PAR30 of 20% mean for an MFI?"</a:t>
            </a:r>
            <a:r>
              <a:rPr lang="en-US" sz="1200" b="0" i="0" kern="1200" dirty="0">
                <a:solidFill>
                  <a:schemeClr val="tx1"/>
                </a:solidFill>
                <a:effectLst/>
                <a:latin typeface="+mn-lt"/>
                <a:ea typeface="+mn-ea"/>
                <a:cs typeface="+mn-cs"/>
              </a:rPr>
              <a:t> before moving 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"Here's the full tech stack at a glance. I'll highlight the interesting choices.</a:t>
            </a:r>
          </a:p>
          <a:p>
            <a:r>
              <a:rPr lang="en-US" sz="1200" b="0" i="0" kern="1200" dirty="0">
                <a:solidFill>
                  <a:schemeClr val="tx1"/>
                </a:solidFill>
                <a:effectLst/>
                <a:latin typeface="+mn-lt"/>
                <a:ea typeface="+mn-ea"/>
                <a:cs typeface="+mn-cs"/>
              </a:rPr>
              <a:t>On the frontend, we use Next.js 14 with the App Router pattern. React Query handles all data fetching with a 30-second stale time. The mobile app is Expo — one codebase for iOS and Android.</a:t>
            </a:r>
          </a:p>
          <a:p>
            <a:r>
              <a:rPr lang="en-US" sz="1200" b="0" i="0" kern="1200" dirty="0">
                <a:solidFill>
                  <a:schemeClr val="tx1"/>
                </a:solidFill>
                <a:effectLst/>
                <a:latin typeface="+mn-lt"/>
                <a:ea typeface="+mn-ea"/>
                <a:cs typeface="+mn-cs"/>
              </a:rPr>
              <a:t>On the backend, the gateway and services are all TypeScript on </a:t>
            </a:r>
            <a:r>
              <a:rPr lang="en-US" sz="1200" b="0" i="0" kern="1200" dirty="0" err="1">
                <a:solidFill>
                  <a:schemeClr val="tx1"/>
                </a:solidFill>
                <a:effectLst/>
                <a:latin typeface="+mn-lt"/>
                <a:ea typeface="+mn-ea"/>
                <a:cs typeface="+mn-cs"/>
              </a:rPr>
              <a:t>Fastify</a:t>
            </a:r>
            <a:r>
              <a:rPr lang="en-US" sz="1200" b="0" i="0" kern="1200" dirty="0">
                <a:solidFill>
                  <a:schemeClr val="tx1"/>
                </a:solidFill>
                <a:effectLst/>
                <a:latin typeface="+mn-lt"/>
                <a:ea typeface="+mn-ea"/>
                <a:cs typeface="+mn-cs"/>
              </a:rPr>
              <a:t>. The reporting service breaks that pattern — it's Python with </a:t>
            </a:r>
            <a:r>
              <a:rPr lang="en-US" sz="1200" b="0" i="0" kern="1200" dirty="0" err="1">
                <a:solidFill>
                  <a:schemeClr val="tx1"/>
                </a:solidFill>
                <a:effectLst/>
                <a:latin typeface="+mn-lt"/>
                <a:ea typeface="+mn-ea"/>
                <a:cs typeface="+mn-cs"/>
              </a:rPr>
              <a:t>FastAPI</a:t>
            </a:r>
            <a:r>
              <a:rPr lang="en-US" sz="1200" b="0" i="0" kern="1200" dirty="0">
                <a:solidFill>
                  <a:schemeClr val="tx1"/>
                </a:solidFill>
                <a:effectLst/>
                <a:latin typeface="+mn-lt"/>
                <a:ea typeface="+mn-ea"/>
                <a:cs typeface="+mn-cs"/>
              </a:rPr>
              <a:t> and </a:t>
            </a:r>
            <a:r>
              <a:rPr lang="en-US" sz="1200" b="0" i="0" kern="1200" dirty="0" err="1">
                <a:solidFill>
                  <a:schemeClr val="tx1"/>
                </a:solidFill>
                <a:effectLst/>
                <a:latin typeface="+mn-lt"/>
                <a:ea typeface="+mn-ea"/>
                <a:cs typeface="+mn-cs"/>
              </a:rPr>
              <a:t>SQLAlchemy</a:t>
            </a:r>
            <a:r>
              <a:rPr lang="en-US" sz="1200" b="0" i="0" kern="1200" dirty="0">
                <a:solidFill>
                  <a:schemeClr val="tx1"/>
                </a:solidFill>
                <a:effectLst/>
                <a:latin typeface="+mn-lt"/>
                <a:ea typeface="+mn-ea"/>
                <a:cs typeface="+mn-cs"/>
              </a:rPr>
              <a:t> because direct database queries are more natural there.</a:t>
            </a:r>
          </a:p>
          <a:p>
            <a:r>
              <a:rPr lang="en-US" sz="1200" b="0" i="0" kern="1200" dirty="0">
                <a:solidFill>
                  <a:schemeClr val="tx1"/>
                </a:solidFill>
                <a:effectLst/>
                <a:latin typeface="+mn-lt"/>
                <a:ea typeface="+mn-ea"/>
                <a:cs typeface="+mn-cs"/>
              </a:rPr>
              <a:t>For auth and security, </a:t>
            </a:r>
            <a:r>
              <a:rPr lang="en-US" sz="1200" b="0" i="0" kern="1200" dirty="0" err="1">
                <a:solidFill>
                  <a:schemeClr val="tx1"/>
                </a:solidFill>
                <a:effectLst/>
                <a:latin typeface="+mn-lt"/>
                <a:ea typeface="+mn-ea"/>
                <a:cs typeface="+mn-cs"/>
              </a:rPr>
              <a:t>Keycloak</a:t>
            </a:r>
            <a:r>
              <a:rPr lang="en-US" sz="1200" b="0" i="0" kern="1200" dirty="0">
                <a:solidFill>
                  <a:schemeClr val="tx1"/>
                </a:solidFill>
                <a:effectLst/>
                <a:latin typeface="+mn-lt"/>
                <a:ea typeface="+mn-ea"/>
                <a:cs typeface="+mn-cs"/>
              </a:rPr>
              <a:t> handles all identity. JWTs are RS256-signed and verified via JWKS — the gateway fetches </a:t>
            </a:r>
            <a:r>
              <a:rPr lang="en-US" sz="1200" b="0" i="0" kern="1200" dirty="0" err="1">
                <a:solidFill>
                  <a:schemeClr val="tx1"/>
                </a:solidFill>
                <a:effectLst/>
                <a:latin typeface="+mn-lt"/>
                <a:ea typeface="+mn-ea"/>
                <a:cs typeface="+mn-cs"/>
              </a:rPr>
              <a:t>Keycloak's</a:t>
            </a:r>
            <a:r>
              <a:rPr lang="en-US" sz="1200" b="0" i="0" kern="1200" dirty="0">
                <a:solidFill>
                  <a:schemeClr val="tx1"/>
                </a:solidFill>
                <a:effectLst/>
                <a:latin typeface="+mn-lt"/>
                <a:ea typeface="+mn-ea"/>
                <a:cs typeface="+mn-cs"/>
              </a:rPr>
              <a:t> public key once and caches it for 10 minutes. KBZ Pay uses HMAC-SHA256 request signing.</a:t>
            </a:r>
          </a:p>
          <a:p>
            <a:r>
              <a:rPr lang="en-US" sz="1200" b="0" i="0" kern="1200" dirty="0">
                <a:solidFill>
                  <a:schemeClr val="tx1"/>
                </a:solidFill>
                <a:effectLst/>
                <a:latin typeface="+mn-lt"/>
                <a:ea typeface="+mn-ea"/>
                <a:cs typeface="+mn-cs"/>
              </a:rPr>
              <a:t>Infrastructure is Docker Compose with eight containers. The whole team runs the same environment. The </a:t>
            </a:r>
            <a:r>
              <a:rPr lang="en-US" sz="1200" b="0" i="0" kern="1200" dirty="0" err="1">
                <a:solidFill>
                  <a:schemeClr val="tx1"/>
                </a:solidFill>
                <a:effectLst/>
                <a:latin typeface="+mn-lt"/>
                <a:ea typeface="+mn-ea"/>
                <a:cs typeface="+mn-cs"/>
              </a:rPr>
              <a:t>monorepo</a:t>
            </a:r>
            <a:r>
              <a:rPr lang="en-US" sz="1200" b="0" i="0" kern="1200" dirty="0">
                <a:solidFill>
                  <a:schemeClr val="tx1"/>
                </a:solidFill>
                <a:effectLst/>
                <a:latin typeface="+mn-lt"/>
                <a:ea typeface="+mn-ea"/>
                <a:cs typeface="+mn-cs"/>
              </a:rPr>
              <a:t> uses </a:t>
            </a:r>
            <a:r>
              <a:rPr lang="en-US" sz="1200" b="0" i="0" kern="1200" dirty="0" err="1">
                <a:solidFill>
                  <a:schemeClr val="tx1"/>
                </a:solidFill>
                <a:effectLst/>
                <a:latin typeface="+mn-lt"/>
                <a:ea typeface="+mn-ea"/>
                <a:cs typeface="+mn-cs"/>
              </a:rPr>
              <a:t>Turborepo</a:t>
            </a:r>
            <a:r>
              <a:rPr lang="en-US" sz="1200" b="0" i="0" kern="1200" dirty="0">
                <a:solidFill>
                  <a:schemeClr val="tx1"/>
                </a:solidFill>
                <a:effectLst/>
                <a:latin typeface="+mn-lt"/>
                <a:ea typeface="+mn-ea"/>
                <a:cs typeface="+mn-cs"/>
              </a:rPr>
              <a:t> and </a:t>
            </a:r>
            <a:r>
              <a:rPr lang="en-US" sz="1200" b="0" i="0" kern="1200" dirty="0" err="1">
                <a:solidFill>
                  <a:schemeClr val="tx1"/>
                </a:solidFill>
                <a:effectLst/>
                <a:latin typeface="+mn-lt"/>
                <a:ea typeface="+mn-ea"/>
                <a:cs typeface="+mn-cs"/>
              </a:rPr>
              <a:t>pnpm</a:t>
            </a:r>
            <a:r>
              <a:rPr lang="en-US" sz="1200" b="0" i="0" kern="1200" dirty="0">
                <a:solidFill>
                  <a:schemeClr val="tx1"/>
                </a:solidFill>
                <a:effectLst/>
                <a:latin typeface="+mn-lt"/>
                <a:ea typeface="+mn-ea"/>
                <a:cs typeface="+mn-cs"/>
              </a:rPr>
              <a:t> workspaces with a shared TypeScript types package that all services depend 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"Authentication is one of the most important flows to understand. Let me walk through it step by step.</a:t>
            </a:r>
          </a:p>
          <a:p>
            <a:r>
              <a:rPr lang="en-US" sz="1200" b="1" i="0" kern="1200" dirty="0">
                <a:solidFill>
                  <a:schemeClr val="tx1"/>
                </a:solidFill>
                <a:effectLst/>
                <a:latin typeface="+mn-lt"/>
                <a:ea typeface="+mn-ea"/>
                <a:cs typeface="+mn-cs"/>
              </a:rPr>
              <a:t>Step 1:</a:t>
            </a:r>
            <a:r>
              <a:rPr lang="en-US" sz="1200" b="0" i="0" kern="1200" dirty="0">
                <a:solidFill>
                  <a:schemeClr val="tx1"/>
                </a:solidFill>
                <a:effectLst/>
                <a:latin typeface="+mn-lt"/>
                <a:ea typeface="+mn-ea"/>
                <a:cs typeface="+mn-cs"/>
              </a:rPr>
              <a:t> You log into the web portal with your username and password.</a:t>
            </a:r>
          </a:p>
          <a:p>
            <a:r>
              <a:rPr lang="en-US" sz="1200" b="1" i="0" kern="1200" dirty="0">
                <a:solidFill>
                  <a:schemeClr val="tx1"/>
                </a:solidFill>
                <a:effectLst/>
                <a:latin typeface="+mn-lt"/>
                <a:ea typeface="+mn-ea"/>
                <a:cs typeface="+mn-cs"/>
              </a:rPr>
              <a:t>Step 2:</a:t>
            </a:r>
            <a:r>
              <a:rPr lang="en-US" sz="1200" b="0" i="0" kern="1200" dirty="0">
                <a:solidFill>
                  <a:schemeClr val="tx1"/>
                </a:solidFill>
                <a:effectLst/>
                <a:latin typeface="+mn-lt"/>
                <a:ea typeface="+mn-ea"/>
                <a:cs typeface="+mn-cs"/>
              </a:rPr>
              <a:t> The API Gateway calls </a:t>
            </a:r>
            <a:r>
              <a:rPr lang="en-US" sz="1200" b="0" i="0" kern="1200" dirty="0" err="1">
                <a:solidFill>
                  <a:schemeClr val="tx1"/>
                </a:solidFill>
                <a:effectLst/>
                <a:latin typeface="+mn-lt"/>
                <a:ea typeface="+mn-ea"/>
                <a:cs typeface="+mn-cs"/>
              </a:rPr>
              <a:t>Keycloak</a:t>
            </a:r>
            <a:r>
              <a:rPr lang="en-US" sz="1200" b="0" i="0" kern="1200" dirty="0">
                <a:solidFill>
                  <a:schemeClr val="tx1"/>
                </a:solidFill>
                <a:effectLst/>
                <a:latin typeface="+mn-lt"/>
                <a:ea typeface="+mn-ea"/>
                <a:cs typeface="+mn-cs"/>
              </a:rPr>
              <a:t> using the Resource Owner Password Credentials flow — that's ROPC. </a:t>
            </a:r>
            <a:r>
              <a:rPr lang="en-US" sz="1200" b="0" i="0" kern="1200" dirty="0" err="1">
                <a:solidFill>
                  <a:schemeClr val="tx1"/>
                </a:solidFill>
                <a:effectLst/>
                <a:latin typeface="+mn-lt"/>
                <a:ea typeface="+mn-ea"/>
                <a:cs typeface="+mn-cs"/>
              </a:rPr>
              <a:t>Keycloak</a:t>
            </a:r>
            <a:r>
              <a:rPr lang="en-US" sz="1200" b="0" i="0" kern="1200" dirty="0">
                <a:solidFill>
                  <a:schemeClr val="tx1"/>
                </a:solidFill>
                <a:effectLst/>
                <a:latin typeface="+mn-lt"/>
                <a:ea typeface="+mn-ea"/>
                <a:cs typeface="+mn-cs"/>
              </a:rPr>
              <a:t> returns a JWT access token and a refresh token.</a:t>
            </a:r>
          </a:p>
          <a:p>
            <a:r>
              <a:rPr lang="en-US" sz="1200" b="1" i="0" kern="1200" dirty="0">
                <a:solidFill>
                  <a:schemeClr val="tx1"/>
                </a:solidFill>
                <a:effectLst/>
                <a:latin typeface="+mn-lt"/>
                <a:ea typeface="+mn-ea"/>
                <a:cs typeface="+mn-cs"/>
              </a:rPr>
              <a:t>Step 3:</a:t>
            </a:r>
            <a:r>
              <a:rPr lang="en-US" sz="1200" b="0" i="0" kern="1200" dirty="0">
                <a:solidFill>
                  <a:schemeClr val="tx1"/>
                </a:solidFill>
                <a:effectLst/>
                <a:latin typeface="+mn-lt"/>
                <a:ea typeface="+mn-ea"/>
                <a:cs typeface="+mn-cs"/>
              </a:rPr>
              <a:t> Every subsequent request includes that JWT in the Authorization header.</a:t>
            </a:r>
          </a:p>
          <a:p>
            <a:r>
              <a:rPr lang="en-US" sz="1200" b="1" i="0" kern="1200" dirty="0">
                <a:solidFill>
                  <a:schemeClr val="tx1"/>
                </a:solidFill>
                <a:effectLst/>
                <a:latin typeface="+mn-lt"/>
                <a:ea typeface="+mn-ea"/>
                <a:cs typeface="+mn-cs"/>
              </a:rPr>
              <a:t>Step 4:</a:t>
            </a:r>
            <a:r>
              <a:rPr lang="en-US" sz="1200" b="0" i="0" kern="1200" dirty="0">
                <a:solidFill>
                  <a:schemeClr val="tx1"/>
                </a:solidFill>
                <a:effectLst/>
                <a:latin typeface="+mn-lt"/>
                <a:ea typeface="+mn-ea"/>
                <a:cs typeface="+mn-cs"/>
              </a:rPr>
              <a:t> The gateway's </a:t>
            </a:r>
            <a:r>
              <a:rPr lang="en-US" sz="1200" b="0" i="0" kern="1200" dirty="0" err="1">
                <a:solidFill>
                  <a:schemeClr val="tx1"/>
                </a:solidFill>
                <a:effectLst/>
                <a:latin typeface="+mn-lt"/>
                <a:ea typeface="+mn-ea"/>
                <a:cs typeface="+mn-cs"/>
              </a:rPr>
              <a:t>app.authenticate</a:t>
            </a:r>
            <a:r>
              <a:rPr lang="en-US" sz="1200" b="0" i="0" kern="1200" dirty="0">
                <a:solidFill>
                  <a:schemeClr val="tx1"/>
                </a:solidFill>
                <a:effectLst/>
                <a:latin typeface="+mn-lt"/>
                <a:ea typeface="+mn-ea"/>
                <a:cs typeface="+mn-cs"/>
              </a:rPr>
              <a:t> hook fires. It calls </a:t>
            </a:r>
            <a:r>
              <a:rPr lang="en-US" sz="1200" b="0" i="0" kern="1200" dirty="0" err="1">
                <a:solidFill>
                  <a:schemeClr val="tx1"/>
                </a:solidFill>
                <a:effectLst/>
                <a:latin typeface="+mn-lt"/>
                <a:ea typeface="+mn-ea"/>
                <a:cs typeface="+mn-cs"/>
              </a:rPr>
              <a:t>req.jwtVerify</a:t>
            </a:r>
            <a:r>
              <a:rPr lang="en-US" sz="1200" b="0" i="0" kern="1200" dirty="0">
                <a:solidFill>
                  <a:schemeClr val="tx1"/>
                </a:solidFill>
                <a:effectLst/>
                <a:latin typeface="+mn-lt"/>
                <a:ea typeface="+mn-ea"/>
                <a:cs typeface="+mn-cs"/>
              </a:rPr>
              <a:t>(), which uses the </a:t>
            </a:r>
            <a:r>
              <a:rPr lang="en-US" sz="1200" b="0" i="0" kern="1200" dirty="0" err="1">
                <a:solidFill>
                  <a:schemeClr val="tx1"/>
                </a:solidFill>
                <a:effectLst/>
                <a:latin typeface="+mn-lt"/>
                <a:ea typeface="+mn-ea"/>
                <a:cs typeface="+mn-cs"/>
              </a:rPr>
              <a:t>jwks-rsa</a:t>
            </a:r>
            <a:r>
              <a:rPr lang="en-US" sz="1200" b="0" i="0" kern="1200" dirty="0">
                <a:solidFill>
                  <a:schemeClr val="tx1"/>
                </a:solidFill>
                <a:effectLst/>
                <a:latin typeface="+mn-lt"/>
                <a:ea typeface="+mn-ea"/>
                <a:cs typeface="+mn-cs"/>
              </a:rPr>
              <a:t> library to fetch </a:t>
            </a:r>
            <a:r>
              <a:rPr lang="en-US" sz="1200" b="0" i="0" kern="1200" dirty="0" err="1">
                <a:solidFill>
                  <a:schemeClr val="tx1"/>
                </a:solidFill>
                <a:effectLst/>
                <a:latin typeface="+mn-lt"/>
                <a:ea typeface="+mn-ea"/>
                <a:cs typeface="+mn-cs"/>
              </a:rPr>
              <a:t>Keycloak's</a:t>
            </a:r>
            <a:r>
              <a:rPr lang="en-US" sz="1200" b="0" i="0" kern="1200" dirty="0">
                <a:solidFill>
                  <a:schemeClr val="tx1"/>
                </a:solidFill>
                <a:effectLst/>
                <a:latin typeface="+mn-lt"/>
                <a:ea typeface="+mn-ea"/>
                <a:cs typeface="+mn-cs"/>
              </a:rPr>
              <a:t> public key. This key is cached for 10 minutes — so there's no call to </a:t>
            </a:r>
            <a:r>
              <a:rPr lang="en-US" sz="1200" b="0" i="0" kern="1200" dirty="0" err="1">
                <a:solidFill>
                  <a:schemeClr val="tx1"/>
                </a:solidFill>
                <a:effectLst/>
                <a:latin typeface="+mn-lt"/>
                <a:ea typeface="+mn-ea"/>
                <a:cs typeface="+mn-cs"/>
              </a:rPr>
              <a:t>Keycloak</a:t>
            </a:r>
            <a:r>
              <a:rPr lang="en-US" sz="1200" b="0" i="0" kern="1200" dirty="0">
                <a:solidFill>
                  <a:schemeClr val="tx1"/>
                </a:solidFill>
                <a:effectLst/>
                <a:latin typeface="+mn-lt"/>
                <a:ea typeface="+mn-ea"/>
                <a:cs typeface="+mn-cs"/>
              </a:rPr>
              <a:t> on every request.</a:t>
            </a:r>
          </a:p>
          <a:p>
            <a:r>
              <a:rPr lang="en-US" sz="1200" b="1" i="0" kern="1200" dirty="0">
                <a:solidFill>
                  <a:schemeClr val="tx1"/>
                </a:solidFill>
                <a:effectLst/>
                <a:latin typeface="+mn-lt"/>
                <a:ea typeface="+mn-ea"/>
                <a:cs typeface="+mn-cs"/>
              </a:rPr>
              <a:t>Step 5:</a:t>
            </a:r>
            <a:r>
              <a:rPr lang="en-US" sz="1200" b="0" i="0" kern="1200" dirty="0">
                <a:solidFill>
                  <a:schemeClr val="tx1"/>
                </a:solidFill>
                <a:effectLst/>
                <a:latin typeface="+mn-lt"/>
                <a:ea typeface="+mn-ea"/>
                <a:cs typeface="+mn-cs"/>
              </a:rPr>
              <a:t> The token's RS256 signature, issuer, and expiry are all verified locally.</a:t>
            </a:r>
          </a:p>
          <a:p>
            <a:r>
              <a:rPr lang="en-US" sz="1200" b="1" i="0" kern="1200" dirty="0">
                <a:solidFill>
                  <a:schemeClr val="tx1"/>
                </a:solidFill>
                <a:effectLst/>
                <a:latin typeface="+mn-lt"/>
                <a:ea typeface="+mn-ea"/>
                <a:cs typeface="+mn-cs"/>
              </a:rPr>
              <a:t>Step 6:</a:t>
            </a:r>
            <a:r>
              <a:rPr lang="en-US" sz="1200" b="0" i="0" kern="1200" dirty="0">
                <a:solidFill>
                  <a:schemeClr val="tx1"/>
                </a:solidFill>
                <a:effectLst/>
                <a:latin typeface="+mn-lt"/>
                <a:ea typeface="+mn-ea"/>
                <a:cs typeface="+mn-cs"/>
              </a:rPr>
              <a:t> A </a:t>
            </a:r>
            <a:r>
              <a:rPr lang="en-US" sz="1200" b="0" i="0" kern="1200" dirty="0" err="1">
                <a:solidFill>
                  <a:schemeClr val="tx1"/>
                </a:solidFill>
                <a:effectLst/>
                <a:latin typeface="+mn-lt"/>
                <a:ea typeface="+mn-ea"/>
                <a:cs typeface="+mn-cs"/>
              </a:rPr>
              <a:t>formatUser</a:t>
            </a:r>
            <a:r>
              <a:rPr lang="en-US" sz="1200" b="0" i="0" kern="1200" dirty="0">
                <a:solidFill>
                  <a:schemeClr val="tx1"/>
                </a:solidFill>
                <a:effectLst/>
                <a:latin typeface="+mn-lt"/>
                <a:ea typeface="+mn-ea"/>
                <a:cs typeface="+mn-cs"/>
              </a:rPr>
              <a:t>() function maps the raw </a:t>
            </a:r>
            <a:r>
              <a:rPr lang="en-US" sz="1200" b="0" i="0" kern="1200" dirty="0" err="1">
                <a:solidFill>
                  <a:schemeClr val="tx1"/>
                </a:solidFill>
                <a:effectLst/>
                <a:latin typeface="+mn-lt"/>
                <a:ea typeface="+mn-ea"/>
                <a:cs typeface="+mn-cs"/>
              </a:rPr>
              <a:t>Keycloak</a:t>
            </a:r>
            <a:r>
              <a:rPr lang="en-US" sz="1200" b="0" i="0" kern="1200" dirty="0">
                <a:solidFill>
                  <a:schemeClr val="tx1"/>
                </a:solidFill>
                <a:effectLst/>
                <a:latin typeface="+mn-lt"/>
                <a:ea typeface="+mn-ea"/>
                <a:cs typeface="+mn-cs"/>
              </a:rPr>
              <a:t> claims into a clean </a:t>
            </a:r>
            <a:r>
              <a:rPr lang="en-US" sz="1200" b="0" i="0" kern="1200" dirty="0" err="1">
                <a:solidFill>
                  <a:schemeClr val="tx1"/>
                </a:solidFill>
                <a:effectLst/>
                <a:latin typeface="+mn-lt"/>
                <a:ea typeface="+mn-ea"/>
                <a:cs typeface="+mn-cs"/>
              </a:rPr>
              <a:t>AuthUser</a:t>
            </a:r>
            <a:r>
              <a:rPr lang="en-US" sz="1200" b="0" i="0" kern="1200" dirty="0">
                <a:solidFill>
                  <a:schemeClr val="tx1"/>
                </a:solidFill>
                <a:effectLst/>
                <a:latin typeface="+mn-lt"/>
                <a:ea typeface="+mn-ea"/>
                <a:cs typeface="+mn-cs"/>
              </a:rPr>
              <a:t> object with id, username, email, and roles.</a:t>
            </a:r>
          </a:p>
          <a:p>
            <a:r>
              <a:rPr lang="en-US" sz="1200" b="1" i="0" kern="1200" dirty="0">
                <a:solidFill>
                  <a:schemeClr val="tx1"/>
                </a:solidFill>
                <a:effectLst/>
                <a:latin typeface="+mn-lt"/>
                <a:ea typeface="+mn-ea"/>
                <a:cs typeface="+mn-cs"/>
              </a:rPr>
              <a:t>Step 7:</a:t>
            </a:r>
            <a:r>
              <a:rPr lang="en-US" sz="1200" b="0" i="0" kern="1200" dirty="0">
                <a:solidFill>
                  <a:schemeClr val="tx1"/>
                </a:solidFill>
                <a:effectLst/>
                <a:latin typeface="+mn-lt"/>
                <a:ea typeface="+mn-ea"/>
                <a:cs typeface="+mn-cs"/>
              </a:rPr>
              <a:t> Now </a:t>
            </a:r>
            <a:r>
              <a:rPr lang="en-US" sz="1200" b="0" i="0" kern="1200" dirty="0" err="1">
                <a:solidFill>
                  <a:schemeClr val="tx1"/>
                </a:solidFill>
                <a:effectLst/>
                <a:latin typeface="+mn-lt"/>
                <a:ea typeface="+mn-ea"/>
                <a:cs typeface="+mn-cs"/>
              </a:rPr>
              <a:t>app.authorize</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branch_manager</a:t>
            </a:r>
            <a:r>
              <a:rPr lang="en-US" sz="1200" b="0" i="0" kern="1200" dirty="0">
                <a:solidFill>
                  <a:schemeClr val="tx1"/>
                </a:solidFill>
                <a:effectLst/>
                <a:latin typeface="+mn-lt"/>
                <a:ea typeface="+mn-ea"/>
                <a:cs typeface="+mn-cs"/>
              </a:rPr>
              <a:t>']) can check the roles before the route handler runs.</a:t>
            </a:r>
          </a:p>
          <a:p>
            <a:r>
              <a:rPr lang="en-US" sz="1200" b="0" i="0" kern="1200" dirty="0">
                <a:solidFill>
                  <a:schemeClr val="tx1"/>
                </a:solidFill>
                <a:effectLst/>
                <a:latin typeface="+mn-lt"/>
                <a:ea typeface="+mn-ea"/>
                <a:cs typeface="+mn-cs"/>
              </a:rPr>
              <a:t>On the right you can see what's inside the JWT payload — the username, the roles, the expiry. You can decode any token live at jwt.io to see this."</a:t>
            </a:r>
          </a:p>
          <a:p>
            <a:r>
              <a:rPr lang="en-US" sz="1200" b="1" i="0" kern="1200" dirty="0">
                <a:solidFill>
                  <a:schemeClr val="tx1"/>
                </a:solidFill>
                <a:effectLst/>
                <a:latin typeface="+mn-lt"/>
                <a:ea typeface="+mn-ea"/>
                <a:cs typeface="+mn-cs"/>
              </a:rPr>
              <a:t>Tip:</a:t>
            </a:r>
            <a:r>
              <a:rPr lang="en-US" sz="1200" b="0" i="0" kern="1200" dirty="0">
                <a:solidFill>
                  <a:schemeClr val="tx1"/>
                </a:solidFill>
                <a:effectLst/>
                <a:latin typeface="+mn-lt"/>
                <a:ea typeface="+mn-ea"/>
                <a:cs typeface="+mn-cs"/>
              </a:rPr>
              <a:t> Ask the room: </a:t>
            </a:r>
            <a:r>
              <a:rPr lang="en-US" sz="1200" b="0" i="1" kern="1200" dirty="0">
                <a:solidFill>
                  <a:schemeClr val="tx1"/>
                </a:solidFill>
                <a:effectLst/>
                <a:latin typeface="+mn-lt"/>
                <a:ea typeface="+mn-ea"/>
                <a:cs typeface="+mn-cs"/>
              </a:rPr>
              <a:t>"Why don't we call </a:t>
            </a:r>
            <a:r>
              <a:rPr lang="en-US" sz="1200" b="0" i="1" kern="1200" dirty="0" err="1">
                <a:solidFill>
                  <a:schemeClr val="tx1"/>
                </a:solidFill>
                <a:effectLst/>
                <a:latin typeface="+mn-lt"/>
                <a:ea typeface="+mn-ea"/>
                <a:cs typeface="+mn-cs"/>
              </a:rPr>
              <a:t>Keycloak</a:t>
            </a:r>
            <a:r>
              <a:rPr lang="en-US" sz="1200" b="0" i="1" kern="1200" dirty="0">
                <a:solidFill>
                  <a:schemeClr val="tx1"/>
                </a:solidFill>
                <a:effectLst/>
                <a:latin typeface="+mn-lt"/>
                <a:ea typeface="+mn-ea"/>
                <a:cs typeface="+mn-cs"/>
              </a:rPr>
              <a:t> on every request to check the token?"</a:t>
            </a:r>
            <a:r>
              <a:rPr lang="en-US" sz="1200" b="0" i="0" kern="1200" dirty="0">
                <a:solidFill>
                  <a:schemeClr val="tx1"/>
                </a:solidFill>
                <a:effectLst/>
                <a:latin typeface="+mn-lt"/>
                <a:ea typeface="+mn-ea"/>
                <a:cs typeface="+mn-cs"/>
              </a:rPr>
              <a:t> — answer is the JWKS public key cache.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look inside the API Gateway. It has five route files, each owning a different domain.</a:t>
            </a:r>
          </a:p>
          <a:p>
            <a:r>
              <a:rPr lang="en-US" sz="1200" b="0" i="0" kern="1200" dirty="0" err="1">
                <a:solidFill>
                  <a:schemeClr val="tx1"/>
                </a:solidFill>
                <a:effectLst/>
                <a:latin typeface="+mn-lt"/>
                <a:ea typeface="+mn-ea"/>
                <a:cs typeface="+mn-cs"/>
              </a:rPr>
              <a:t>auth.ts</a:t>
            </a:r>
            <a:r>
              <a:rPr lang="en-US" sz="1200" b="0" i="0" kern="1200" dirty="0">
                <a:solidFill>
                  <a:schemeClr val="tx1"/>
                </a:solidFill>
                <a:effectLst/>
                <a:latin typeface="+mn-lt"/>
                <a:ea typeface="+mn-ea"/>
                <a:cs typeface="+mn-cs"/>
              </a:rPr>
              <a:t> handles login, token refresh, logout, and a /me endpoint to get the current user.</a:t>
            </a:r>
          </a:p>
          <a:p>
            <a:r>
              <a:rPr lang="en-US" sz="1200" b="0" i="0" kern="1200" dirty="0" err="1">
                <a:solidFill>
                  <a:schemeClr val="tx1"/>
                </a:solidFill>
                <a:effectLst/>
                <a:latin typeface="+mn-lt"/>
                <a:ea typeface="+mn-ea"/>
                <a:cs typeface="+mn-cs"/>
              </a:rPr>
              <a:t>clients.ts</a:t>
            </a:r>
            <a:r>
              <a:rPr lang="en-US" sz="1200" b="0" i="0" kern="1200" dirty="0">
                <a:solidFill>
                  <a:schemeClr val="tx1"/>
                </a:solidFill>
                <a:effectLst/>
                <a:latin typeface="+mn-lt"/>
                <a:ea typeface="+mn-ea"/>
                <a:cs typeface="+mn-cs"/>
              </a:rPr>
              <a:t> is a clean proxy to </a:t>
            </a:r>
            <a:r>
              <a:rPr lang="en-US" sz="1200" b="0" i="0" kern="1200" dirty="0" err="1">
                <a:solidFill>
                  <a:schemeClr val="tx1"/>
                </a:solidFill>
                <a:effectLst/>
                <a:latin typeface="+mn-lt"/>
                <a:ea typeface="+mn-ea"/>
                <a:cs typeface="+mn-cs"/>
              </a:rPr>
              <a:t>Fineract</a:t>
            </a:r>
            <a:r>
              <a:rPr lang="en-US" sz="1200" b="0" i="0" kern="1200" dirty="0">
                <a:solidFill>
                  <a:schemeClr val="tx1"/>
                </a:solidFill>
                <a:effectLst/>
                <a:latin typeface="+mn-lt"/>
                <a:ea typeface="+mn-ea"/>
                <a:cs typeface="+mn-cs"/>
              </a:rPr>
              <a:t> — list clients, get a single client, create, update.</a:t>
            </a:r>
          </a:p>
          <a:p>
            <a:r>
              <a:rPr lang="en-US" sz="1200" b="0" i="0" kern="1200" dirty="0" err="1">
                <a:solidFill>
                  <a:schemeClr val="tx1"/>
                </a:solidFill>
                <a:effectLst/>
                <a:latin typeface="+mn-lt"/>
                <a:ea typeface="+mn-ea"/>
                <a:cs typeface="+mn-cs"/>
              </a:rPr>
              <a:t>loans.ts</a:t>
            </a:r>
            <a:r>
              <a:rPr lang="en-US" sz="1200" b="0" i="0" kern="1200" dirty="0">
                <a:solidFill>
                  <a:schemeClr val="tx1"/>
                </a:solidFill>
                <a:effectLst/>
                <a:latin typeface="+mn-lt"/>
                <a:ea typeface="+mn-ea"/>
                <a:cs typeface="+mn-cs"/>
              </a:rPr>
              <a:t> is the most complex route — list loans, get loan detail, post a repayment, and the approval workflow: approve, disburse, reject.</a:t>
            </a:r>
          </a:p>
          <a:p>
            <a:r>
              <a:rPr lang="en-US" sz="1200" b="0" i="0" kern="1200" dirty="0" err="1">
                <a:solidFill>
                  <a:schemeClr val="tx1"/>
                </a:solidFill>
                <a:effectLst/>
                <a:latin typeface="+mn-lt"/>
                <a:ea typeface="+mn-ea"/>
                <a:cs typeface="+mn-cs"/>
              </a:rPr>
              <a:t>payments.ts</a:t>
            </a:r>
            <a:r>
              <a:rPr lang="en-US" sz="1200" b="0" i="0" kern="1200" dirty="0">
                <a:solidFill>
                  <a:schemeClr val="tx1"/>
                </a:solidFill>
                <a:effectLst/>
                <a:latin typeface="+mn-lt"/>
                <a:ea typeface="+mn-ea"/>
                <a:cs typeface="+mn-cs"/>
              </a:rPr>
              <a:t> initiates KBZ Pay orders. This is out of scope for Week 1.</a:t>
            </a:r>
          </a:p>
          <a:p>
            <a:r>
              <a:rPr lang="en-US" sz="1200" b="0" i="0" kern="1200" dirty="0" err="1">
                <a:solidFill>
                  <a:schemeClr val="tx1"/>
                </a:solidFill>
                <a:effectLst/>
                <a:latin typeface="+mn-lt"/>
                <a:ea typeface="+mn-ea"/>
                <a:cs typeface="+mn-cs"/>
              </a:rPr>
              <a:t>dashboard.ts</a:t>
            </a:r>
            <a:r>
              <a:rPr lang="en-US" sz="1200" b="0" i="0" kern="1200" dirty="0">
                <a:solidFill>
                  <a:schemeClr val="tx1"/>
                </a:solidFill>
                <a:effectLst/>
                <a:latin typeface="+mn-lt"/>
                <a:ea typeface="+mn-ea"/>
                <a:cs typeface="+mn-cs"/>
              </a:rPr>
              <a:t> fans out to the reporting service to aggregate stats.</a:t>
            </a:r>
          </a:p>
          <a:p>
            <a:r>
              <a:rPr lang="en-US" sz="1200" b="0" i="0" kern="1200" dirty="0">
                <a:solidFill>
                  <a:schemeClr val="tx1"/>
                </a:solidFill>
                <a:effectLst/>
                <a:latin typeface="+mn-lt"/>
                <a:ea typeface="+mn-ea"/>
                <a:cs typeface="+mn-cs"/>
              </a:rPr>
              <a:t>On the right you see the five roles. The key insight is that authorization is enforced at the gateway level — the frontend doesn't control it. A loan officer literally cannot call the approve endpoint, even directly. The check is </a:t>
            </a:r>
            <a:r>
              <a:rPr lang="en-US" sz="1200" b="0" i="0" kern="1200" dirty="0" err="1">
                <a:solidFill>
                  <a:schemeClr val="tx1"/>
                </a:solidFill>
                <a:effectLst/>
                <a:latin typeface="+mn-lt"/>
                <a:ea typeface="+mn-ea"/>
                <a:cs typeface="+mn-cs"/>
              </a:rPr>
              <a:t>app.authorize</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branch_manager</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super_admin</a:t>
            </a:r>
            <a:r>
              <a:rPr lang="en-US" sz="1200" b="0" i="0" kern="1200" dirty="0">
                <a:solidFill>
                  <a:schemeClr val="tx1"/>
                </a:solidFill>
                <a:effectLst/>
                <a:latin typeface="+mn-lt"/>
                <a:ea typeface="+mn-ea"/>
                <a:cs typeface="+mn-cs"/>
              </a:rPr>
              <a:t>']) in the route definition."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"Two supporting services worth understanding in depth.</a:t>
            </a:r>
          </a:p>
          <a:p>
            <a:r>
              <a:rPr lang="en-US" sz="1200" b="1" i="0" kern="1200" dirty="0">
                <a:solidFill>
                  <a:schemeClr val="tx1"/>
                </a:solidFill>
                <a:effectLst/>
                <a:latin typeface="+mn-lt"/>
                <a:ea typeface="+mn-ea"/>
                <a:cs typeface="+mn-cs"/>
              </a:rPr>
              <a:t>KYC Service.</a:t>
            </a:r>
            <a:r>
              <a:rPr lang="en-US" sz="1200" b="0" i="0" kern="1200" dirty="0">
                <a:solidFill>
                  <a:schemeClr val="tx1"/>
                </a:solidFill>
                <a:effectLst/>
                <a:latin typeface="+mn-lt"/>
                <a:ea typeface="+mn-ea"/>
                <a:cs typeface="+mn-cs"/>
              </a:rPr>
              <a:t> This follows what's called the pluggable provider pattern. There's a </a:t>
            </a:r>
            <a:r>
              <a:rPr lang="en-US" sz="1200" b="0" i="0" kern="1200" dirty="0" err="1">
                <a:solidFill>
                  <a:schemeClr val="tx1"/>
                </a:solidFill>
                <a:effectLst/>
                <a:latin typeface="+mn-lt"/>
                <a:ea typeface="+mn-ea"/>
                <a:cs typeface="+mn-cs"/>
              </a:rPr>
              <a:t>KycProvider</a:t>
            </a:r>
            <a:r>
              <a:rPr lang="en-US" sz="1200" b="0" i="0" kern="1200" dirty="0">
                <a:solidFill>
                  <a:schemeClr val="tx1"/>
                </a:solidFill>
                <a:effectLst/>
                <a:latin typeface="+mn-lt"/>
                <a:ea typeface="+mn-ea"/>
                <a:cs typeface="+mn-cs"/>
              </a:rPr>
              <a:t> interface with exactly four methods: submit, </a:t>
            </a:r>
            <a:r>
              <a:rPr lang="en-US" sz="1200" b="0" i="0" kern="1200" dirty="0" err="1">
                <a:solidFill>
                  <a:schemeClr val="tx1"/>
                </a:solidFill>
                <a:effectLst/>
                <a:latin typeface="+mn-lt"/>
                <a:ea typeface="+mn-ea"/>
                <a:cs typeface="+mn-cs"/>
              </a:rPr>
              <a:t>getStatus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handleWebhook</a:t>
            </a:r>
            <a:r>
              <a:rPr lang="en-US" sz="1200" b="0" i="0" kern="1200" dirty="0">
                <a:solidFill>
                  <a:schemeClr val="tx1"/>
                </a:solidFill>
                <a:effectLst/>
                <a:latin typeface="+mn-lt"/>
                <a:ea typeface="+mn-ea"/>
                <a:cs typeface="+mn-cs"/>
              </a:rPr>
              <a:t>, and </a:t>
            </a:r>
            <a:r>
              <a:rPr lang="en-US" sz="1200" b="0" i="0" kern="1200" dirty="0" err="1">
                <a:solidFill>
                  <a:schemeClr val="tx1"/>
                </a:solidFill>
                <a:effectLst/>
                <a:latin typeface="+mn-lt"/>
                <a:ea typeface="+mn-ea"/>
                <a:cs typeface="+mn-cs"/>
              </a:rPr>
              <a:t>getStats</a:t>
            </a:r>
            <a:r>
              <a:rPr lang="en-US" sz="1200" b="0" i="0" kern="1200" dirty="0">
                <a:solidFill>
                  <a:schemeClr val="tx1"/>
                </a:solidFill>
                <a:effectLst/>
                <a:latin typeface="+mn-lt"/>
                <a:ea typeface="+mn-ea"/>
                <a:cs typeface="+mn-cs"/>
              </a:rPr>
              <a:t>. The routes never import a provider directly — they just call </a:t>
            </a:r>
            <a:r>
              <a:rPr lang="en-US" sz="1200" b="0" i="0" kern="1200" dirty="0" err="1">
                <a:solidFill>
                  <a:schemeClr val="tx1"/>
                </a:solidFill>
                <a:effectLst/>
                <a:latin typeface="+mn-lt"/>
                <a:ea typeface="+mn-ea"/>
                <a:cs typeface="+mn-cs"/>
              </a:rPr>
              <a:t>provider.submit</a:t>
            </a:r>
            <a:r>
              <a:rPr lang="en-US" sz="1200" b="0" i="0" kern="1200" dirty="0">
                <a:solidFill>
                  <a:schemeClr val="tx1"/>
                </a:solidFill>
                <a:effectLst/>
                <a:latin typeface="+mn-lt"/>
                <a:ea typeface="+mn-ea"/>
                <a:cs typeface="+mn-cs"/>
              </a:rPr>
              <a:t>(). Which provider runs is determined by a single environment variable: KYC_PROVIDER. In development that's stub, which auto-approves after two seconds. In production you'd swap in Smile Identity for Myanmar national IDs, or </a:t>
            </a:r>
            <a:r>
              <a:rPr lang="en-US" sz="1200" b="0" i="0" kern="1200" dirty="0" err="1">
                <a:solidFill>
                  <a:schemeClr val="tx1"/>
                </a:solidFill>
                <a:effectLst/>
                <a:latin typeface="+mn-lt"/>
                <a:ea typeface="+mn-ea"/>
                <a:cs typeface="+mn-cs"/>
              </a:rPr>
              <a:t>Onfido</a:t>
            </a:r>
            <a:r>
              <a:rPr lang="en-US" sz="1200" b="0" i="0" kern="1200" dirty="0">
                <a:solidFill>
                  <a:schemeClr val="tx1"/>
                </a:solidFill>
                <a:effectLst/>
                <a:latin typeface="+mn-lt"/>
                <a:ea typeface="+mn-ea"/>
                <a:cs typeface="+mn-cs"/>
              </a:rPr>
              <a:t> for global biometric verification. Adding a new provider means implementing one file and adding one case to the resolver. Nothing else changes.</a:t>
            </a:r>
          </a:p>
          <a:p>
            <a:r>
              <a:rPr lang="en-US" sz="1200" b="1" i="0" kern="1200" dirty="0">
                <a:solidFill>
                  <a:schemeClr val="tx1"/>
                </a:solidFill>
                <a:effectLst/>
                <a:latin typeface="+mn-lt"/>
                <a:ea typeface="+mn-ea"/>
                <a:cs typeface="+mn-cs"/>
              </a:rPr>
              <a:t>Reporting Service.</a:t>
            </a:r>
            <a:r>
              <a:rPr lang="en-US" sz="1200" b="0" i="0" kern="1200" dirty="0">
                <a:solidFill>
                  <a:schemeClr val="tx1"/>
                </a:solidFill>
                <a:effectLst/>
                <a:latin typeface="+mn-lt"/>
                <a:ea typeface="+mn-ea"/>
                <a:cs typeface="+mn-cs"/>
              </a:rPr>
              <a:t> Written in Python with </a:t>
            </a:r>
            <a:r>
              <a:rPr lang="en-US" sz="1200" b="0" i="0" kern="1200" dirty="0" err="1">
                <a:solidFill>
                  <a:schemeClr val="tx1"/>
                </a:solidFill>
                <a:effectLst/>
                <a:latin typeface="+mn-lt"/>
                <a:ea typeface="+mn-ea"/>
                <a:cs typeface="+mn-cs"/>
              </a:rPr>
              <a:t>FastAPI</a:t>
            </a:r>
            <a:r>
              <a:rPr lang="en-US" sz="1200" b="0" i="0" kern="1200" dirty="0">
                <a:solidFill>
                  <a:schemeClr val="tx1"/>
                </a:solidFill>
                <a:effectLst/>
                <a:latin typeface="+mn-lt"/>
                <a:ea typeface="+mn-ea"/>
                <a:cs typeface="+mn-cs"/>
              </a:rPr>
              <a:t>. It has three routers: portfolio for PAR calculations using a CTE query, collections for today's repayment totals, and </a:t>
            </a:r>
            <a:r>
              <a:rPr lang="en-US" sz="1200" b="0" i="0" kern="1200" dirty="0" err="1">
                <a:solidFill>
                  <a:schemeClr val="tx1"/>
                </a:solidFill>
                <a:effectLst/>
                <a:latin typeface="+mn-lt"/>
                <a:ea typeface="+mn-ea"/>
                <a:cs typeface="+mn-cs"/>
              </a:rPr>
              <a:t>kyc_summary</a:t>
            </a:r>
            <a:r>
              <a:rPr lang="en-US" sz="1200" b="0" i="0" kern="1200" dirty="0">
                <a:solidFill>
                  <a:schemeClr val="tx1"/>
                </a:solidFill>
                <a:effectLst/>
                <a:latin typeface="+mn-lt"/>
                <a:ea typeface="+mn-ea"/>
                <a:cs typeface="+mn-cs"/>
              </a:rPr>
              <a:t> which pulls stats from the KYC service. The reason we query PostgreSQL directly instead of calling </a:t>
            </a:r>
            <a:r>
              <a:rPr lang="en-US" sz="1200" b="0" i="0" kern="1200" dirty="0" err="1">
                <a:solidFill>
                  <a:schemeClr val="tx1"/>
                </a:solidFill>
                <a:effectLst/>
                <a:latin typeface="+mn-lt"/>
                <a:ea typeface="+mn-ea"/>
                <a:cs typeface="+mn-cs"/>
              </a:rPr>
              <a:t>Fineract's</a:t>
            </a:r>
            <a:r>
              <a:rPr lang="en-US" sz="1200" b="0" i="0" kern="1200" dirty="0">
                <a:solidFill>
                  <a:schemeClr val="tx1"/>
                </a:solidFill>
                <a:effectLst/>
                <a:latin typeface="+mn-lt"/>
                <a:ea typeface="+mn-ea"/>
                <a:cs typeface="+mn-cs"/>
              </a:rPr>
              <a:t> REST API is accuracy — </a:t>
            </a:r>
            <a:r>
              <a:rPr lang="en-US" sz="1200" b="0" i="0" kern="1200" dirty="0" err="1">
                <a:solidFill>
                  <a:schemeClr val="tx1"/>
                </a:solidFill>
                <a:effectLst/>
                <a:latin typeface="+mn-lt"/>
                <a:ea typeface="+mn-ea"/>
                <a:cs typeface="+mn-cs"/>
              </a:rPr>
              <a:t>Fineract's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inArrears</a:t>
            </a:r>
            <a:r>
              <a:rPr lang="en-US" sz="1200" b="0" i="0" kern="1200" dirty="0">
                <a:solidFill>
                  <a:schemeClr val="tx1"/>
                </a:solidFill>
                <a:effectLst/>
                <a:latin typeface="+mn-lt"/>
                <a:ea typeface="+mn-ea"/>
                <a:cs typeface="+mn-cs"/>
              </a:rPr>
              <a:t> flag only updates after a scheduled batch job. Our SQL query looks at the repayment schedule table in real time, so the dashboard always shows the true current PAR."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"So to close out — let's talk about where we are and where we're going.</a:t>
            </a:r>
          </a:p>
          <a:p>
            <a:r>
              <a:rPr lang="en-US" sz="1200" b="0" i="0" kern="1200" dirty="0">
                <a:solidFill>
                  <a:schemeClr val="tx1"/>
                </a:solidFill>
                <a:effectLst/>
                <a:latin typeface="+mn-lt"/>
                <a:ea typeface="+mn-ea"/>
                <a:cs typeface="+mn-cs"/>
              </a:rPr>
              <a:t>Week 1 was about understanding the system. And you now have that understanding. You know the architecture, the auth flow, the five roles, the domain vocabulary, the PAR formula, the loan lifecycle. That's a real foundation.</a:t>
            </a:r>
          </a:p>
          <a:p>
            <a:r>
              <a:rPr lang="en-US" sz="1200" b="0" i="0" kern="1200" dirty="0">
                <a:solidFill>
                  <a:schemeClr val="tx1"/>
                </a:solidFill>
                <a:effectLst/>
                <a:latin typeface="+mn-lt"/>
                <a:ea typeface="+mn-ea"/>
                <a:cs typeface="+mn-cs"/>
              </a:rPr>
              <a:t>Now here's the path forward — two clear phases.</a:t>
            </a:r>
          </a:p>
          <a:p>
            <a:r>
              <a:rPr lang="en-US" sz="1200" b="1" i="0" kern="1200" dirty="0">
                <a:solidFill>
                  <a:schemeClr val="tx1"/>
                </a:solidFill>
                <a:effectLst/>
                <a:latin typeface="+mn-lt"/>
                <a:ea typeface="+mn-ea"/>
                <a:cs typeface="+mn-cs"/>
              </a:rPr>
              <a:t>Weeks 2–3: Fix and Launch.</a:t>
            </a:r>
            <a:r>
              <a:rPr lang="en-US" sz="1200" b="0" i="0" kern="1200" dirty="0">
                <a:solidFill>
                  <a:schemeClr val="tx1"/>
                </a:solidFill>
                <a:effectLst/>
                <a:latin typeface="+mn-lt"/>
                <a:ea typeface="+mn-ea"/>
                <a:cs typeface="+mn-cs"/>
              </a:rPr>
              <a:t> We take everything we learned and make it run correctly and securely. That means fixing all the critical bugs — the SQL injection, the missing auth on the reporting service, the KYC data that disappears on restart. We also wire KBZ Pay webhook callbacks properly into </a:t>
            </a:r>
            <a:r>
              <a:rPr lang="en-US" sz="1200" b="0" i="0" kern="1200" dirty="0" err="1">
                <a:solidFill>
                  <a:schemeClr val="tx1"/>
                </a:solidFill>
                <a:effectLst/>
                <a:latin typeface="+mn-lt"/>
                <a:ea typeface="+mn-ea"/>
                <a:cs typeface="+mn-cs"/>
              </a:rPr>
              <a:t>Fineract</a:t>
            </a:r>
            <a:r>
              <a:rPr lang="en-US" sz="1200" b="0" i="0" kern="1200" dirty="0">
                <a:solidFill>
                  <a:schemeClr val="tx1"/>
                </a:solidFill>
                <a:effectLst/>
                <a:latin typeface="+mn-lt"/>
                <a:ea typeface="+mn-ea"/>
                <a:cs typeface="+mn-cs"/>
              </a:rPr>
              <a:t> repayments, and we get all eight services stable, health-checked, and production-ready. By end of Week 3, every core user flow works end-to-end with no workarounds.</a:t>
            </a:r>
          </a:p>
          <a:p>
            <a:r>
              <a:rPr lang="en-US" sz="1200" b="1" i="0" kern="1200" dirty="0">
                <a:solidFill>
                  <a:schemeClr val="tx1"/>
                </a:solidFill>
                <a:effectLst/>
                <a:latin typeface="+mn-lt"/>
                <a:ea typeface="+mn-ea"/>
                <a:cs typeface="+mn-cs"/>
              </a:rPr>
              <a:t>Weeks 4 and beyond: Grow.</a:t>
            </a:r>
            <a:r>
              <a:rPr lang="en-US" sz="1200" b="0" i="0" kern="1200" dirty="0">
                <a:solidFill>
                  <a:schemeClr val="tx1"/>
                </a:solidFill>
                <a:effectLst/>
                <a:latin typeface="+mn-lt"/>
                <a:ea typeface="+mn-ea"/>
                <a:cs typeface="+mn-cs"/>
              </a:rPr>
              <a:t> Once the system is solid, we extend it. We bring in a real KYC provider — Smile Identity for Myanmar national IDs. We extend the mobile app with notifications and offline support. We do a real production deployment to the cloud with monitoring and alerting. And then we start building the features that actual MFIs need, based on real feedback.</a:t>
            </a:r>
          </a:p>
          <a:p>
            <a:r>
              <a:rPr lang="en-US" sz="1200" b="0" i="0" kern="1200" dirty="0">
                <a:solidFill>
                  <a:schemeClr val="tx1"/>
                </a:solidFill>
                <a:effectLst/>
                <a:latin typeface="+mn-lt"/>
                <a:ea typeface="+mn-ea"/>
                <a:cs typeface="+mn-cs"/>
              </a:rPr>
              <a:t>The framing I want to leave you with is this: Week 1 is understand. Weeks 2–3 is make it run. Week 4 and beyond is make it yours.</a:t>
            </a:r>
          </a:p>
          <a:p>
            <a:r>
              <a:rPr lang="en-US" sz="1200" b="0" i="0" kern="1200" dirty="0">
                <a:solidFill>
                  <a:schemeClr val="tx1"/>
                </a:solidFill>
                <a:effectLst/>
                <a:latin typeface="+mn-lt"/>
                <a:ea typeface="+mn-ea"/>
                <a:cs typeface="+mn-cs"/>
              </a:rPr>
              <a:t>Any questions?"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3354D"/>
        </a:solidFill>
        <a:effectLst/>
      </p:bgPr>
    </p:bg>
    <p:spTree>
      <p:nvGrpSpPr>
        <p:cNvPr id="1" name=""/>
        <p:cNvGrpSpPr/>
        <p:nvPr/>
      </p:nvGrpSpPr>
      <p:grpSpPr>
        <a:xfrm>
          <a:off x="0" y="0"/>
          <a:ext cx="0" cy="0"/>
          <a:chOff x="0" y="0"/>
          <a:chExt cx="0" cy="0"/>
        </a:xfrm>
      </p:grpSpPr>
      <p:sp>
        <p:nvSpPr>
          <p:cNvPr id="2" name="Shape 0"/>
          <p:cNvSpPr/>
          <p:nvPr/>
        </p:nvSpPr>
        <p:spPr>
          <a:xfrm>
            <a:off x="0" y="0"/>
            <a:ext cx="3200400" cy="73152"/>
          </a:xfrm>
          <a:prstGeom prst="rect">
            <a:avLst/>
          </a:prstGeom>
          <a:solidFill>
            <a:srgbClr val="02C39A"/>
          </a:solidFill>
          <a:ln w="12700">
            <a:solidFill>
              <a:srgbClr val="02C39A"/>
            </a:solidFill>
            <a:prstDash val="solid"/>
          </a:ln>
        </p:spPr>
        <p:txBody>
          <a:bodyPr/>
          <a:lstStyle/>
          <a:p>
            <a:endParaRPr lang="en-US"/>
          </a:p>
        </p:txBody>
      </p:sp>
      <p:sp>
        <p:nvSpPr>
          <p:cNvPr id="3" name="Text 1"/>
          <p:cNvSpPr/>
          <p:nvPr/>
        </p:nvSpPr>
        <p:spPr>
          <a:xfrm>
            <a:off x="548640" y="1005840"/>
            <a:ext cx="8046720" cy="1097280"/>
          </a:xfrm>
          <a:prstGeom prst="rect">
            <a:avLst/>
          </a:prstGeom>
          <a:noFill/>
          <a:ln/>
        </p:spPr>
        <p:txBody>
          <a:bodyPr wrap="square" lIns="0" tIns="0" rIns="0" bIns="0" rtlCol="0" anchor="ctr"/>
          <a:lstStyle/>
          <a:p>
            <a:pPr marL="0" indent="0">
              <a:buNone/>
            </a:pPr>
            <a:r>
              <a:rPr lang="en-US" sz="5400" b="1" dirty="0">
                <a:solidFill>
                  <a:srgbClr val="FFFFFF"/>
                </a:solidFill>
                <a:latin typeface="Georgia" pitchFamily="34" charset="0"/>
                <a:ea typeface="Georgia" pitchFamily="34" charset="-122"/>
                <a:cs typeface="Georgia" pitchFamily="34" charset="-120"/>
              </a:rPr>
              <a:t>MifosX4MM</a:t>
            </a:r>
            <a:endParaRPr lang="en-US" sz="5400" dirty="0"/>
          </a:p>
        </p:txBody>
      </p:sp>
      <p:sp>
        <p:nvSpPr>
          <p:cNvPr id="4" name="Shape 2"/>
          <p:cNvSpPr/>
          <p:nvPr/>
        </p:nvSpPr>
        <p:spPr>
          <a:xfrm>
            <a:off x="548640" y="2212848"/>
            <a:ext cx="2560320" cy="64008"/>
          </a:xfrm>
          <a:prstGeom prst="rect">
            <a:avLst/>
          </a:prstGeom>
          <a:solidFill>
            <a:srgbClr val="02C39A"/>
          </a:solidFill>
          <a:ln w="12700">
            <a:solidFill>
              <a:srgbClr val="02C39A"/>
            </a:solidFill>
            <a:prstDash val="solid"/>
          </a:ln>
        </p:spPr>
        <p:txBody>
          <a:bodyPr/>
          <a:lstStyle/>
          <a:p>
            <a:endParaRPr lang="en-US"/>
          </a:p>
        </p:txBody>
      </p:sp>
      <p:sp>
        <p:nvSpPr>
          <p:cNvPr id="5" name="Text 3"/>
          <p:cNvSpPr/>
          <p:nvPr/>
        </p:nvSpPr>
        <p:spPr>
          <a:xfrm>
            <a:off x="548640" y="2377440"/>
            <a:ext cx="7680960" cy="457200"/>
          </a:xfrm>
          <a:prstGeom prst="rect">
            <a:avLst/>
          </a:prstGeom>
          <a:noFill/>
          <a:ln/>
        </p:spPr>
        <p:txBody>
          <a:bodyPr wrap="square" lIns="0" tIns="0" rIns="0" bIns="0" rtlCol="0" anchor="ctr"/>
          <a:lstStyle/>
          <a:p>
            <a:pPr marL="0" indent="0">
              <a:buNone/>
            </a:pPr>
            <a:r>
              <a:rPr lang="en-US" sz="2200">
                <a:solidFill>
                  <a:srgbClr val="A8D8EA"/>
                </a:solidFill>
                <a:latin typeface="Calibri" pitchFamily="34" charset="0"/>
                <a:ea typeface="Calibri" pitchFamily="34" charset="-122"/>
                <a:cs typeface="Calibri" pitchFamily="34" charset="-120"/>
              </a:rPr>
              <a:t>Microfinance </a:t>
            </a:r>
            <a:r>
              <a:rPr lang="en-US" sz="2200" dirty="0">
                <a:solidFill>
                  <a:srgbClr val="A8D8EA"/>
                </a:solidFill>
                <a:latin typeface="Calibri" pitchFamily="34" charset="0"/>
                <a:ea typeface="Calibri" pitchFamily="34" charset="-122"/>
                <a:cs typeface="Calibri" pitchFamily="34" charset="-120"/>
              </a:rPr>
              <a:t>Platform</a:t>
            </a:r>
            <a:endParaRPr lang="en-US" sz="2200" dirty="0"/>
          </a:p>
        </p:txBody>
      </p:sp>
      <p:sp>
        <p:nvSpPr>
          <p:cNvPr id="6" name="Text 4"/>
          <p:cNvSpPr/>
          <p:nvPr/>
        </p:nvSpPr>
        <p:spPr>
          <a:xfrm>
            <a:off x="548640" y="2880360"/>
            <a:ext cx="7680960" cy="365760"/>
          </a:xfrm>
          <a:prstGeom prst="rect">
            <a:avLst/>
          </a:prstGeom>
          <a:noFill/>
          <a:ln/>
        </p:spPr>
        <p:txBody>
          <a:bodyPr wrap="square" lIns="0" tIns="0" rIns="0" bIns="0" rtlCol="0" anchor="ctr"/>
          <a:lstStyle/>
          <a:p>
            <a:pPr marL="0" indent="0">
              <a:buNone/>
            </a:pPr>
            <a:r>
              <a:rPr lang="en-US" sz="1400" dirty="0">
                <a:solidFill>
                  <a:srgbClr val="7FBBCC"/>
                </a:solidFill>
                <a:latin typeface="Calibri" pitchFamily="34" charset="0"/>
                <a:ea typeface="Calibri" pitchFamily="34" charset="-122"/>
                <a:cs typeface="Calibri" pitchFamily="34" charset="-120"/>
              </a:rPr>
              <a:t>Full-Stack Architecture · Apache Fineract · Keycloak JWT · React + Python</a:t>
            </a:r>
            <a:endParaRPr lang="en-US" sz="1400" dirty="0"/>
          </a:p>
        </p:txBody>
      </p:sp>
      <p:sp>
        <p:nvSpPr>
          <p:cNvPr id="7" name="Text 5"/>
          <p:cNvSpPr/>
          <p:nvPr/>
        </p:nvSpPr>
        <p:spPr>
          <a:xfrm>
            <a:off x="548640" y="4663440"/>
            <a:ext cx="8046720" cy="274320"/>
          </a:xfrm>
          <a:prstGeom prst="rect">
            <a:avLst/>
          </a:prstGeom>
          <a:noFill/>
          <a:ln/>
        </p:spPr>
        <p:txBody>
          <a:bodyPr wrap="square" lIns="0" tIns="0" rIns="0" bIns="0" rtlCol="0" anchor="ctr"/>
          <a:lstStyle/>
          <a:p>
            <a:pPr marL="0" indent="0">
              <a:buNone/>
            </a:pPr>
            <a:r>
              <a:rPr lang="en-US" sz="1100" dirty="0">
                <a:solidFill>
                  <a:srgbClr val="4E8FA3"/>
                </a:solidFill>
                <a:latin typeface="Calibri" pitchFamily="34" charset="0"/>
                <a:ea typeface="Calibri" pitchFamily="34" charset="-122"/>
                <a:cs typeface="Calibri" pitchFamily="34" charset="-120"/>
              </a:rPr>
              <a:t>Team Learning Overview  ·  06 Jun 2026</a:t>
            </a:r>
            <a:endParaRPr lang="en-US" sz="1100" dirty="0"/>
          </a:p>
        </p:txBody>
      </p:sp>
      <p:sp>
        <p:nvSpPr>
          <p:cNvPr id="8" name="Shape 6"/>
          <p:cNvSpPr/>
          <p:nvPr/>
        </p:nvSpPr>
        <p:spPr>
          <a:xfrm>
            <a:off x="8046720" y="822960"/>
            <a:ext cx="822960" cy="822960"/>
          </a:xfrm>
          <a:prstGeom prst="ellipse">
            <a:avLst/>
          </a:prstGeom>
          <a:solidFill>
            <a:srgbClr val="02C39A">
              <a:alpha val="30000"/>
            </a:srgbClr>
          </a:solidFill>
          <a:ln w="12700">
            <a:solidFill>
              <a:srgbClr val="02C39A"/>
            </a:solidFill>
            <a:prstDash val="solid"/>
          </a:ln>
        </p:spPr>
        <p:txBody>
          <a:bodyPr/>
          <a:lstStyle/>
          <a:p>
            <a:endParaRPr lang="en-US"/>
          </a:p>
        </p:txBody>
      </p:sp>
      <p:sp>
        <p:nvSpPr>
          <p:cNvPr id="9" name="Shape 7"/>
          <p:cNvSpPr/>
          <p:nvPr/>
        </p:nvSpPr>
        <p:spPr>
          <a:xfrm>
            <a:off x="8321040" y="1554480"/>
            <a:ext cx="502920" cy="502920"/>
          </a:xfrm>
          <a:prstGeom prst="ellipse">
            <a:avLst/>
          </a:prstGeom>
          <a:solidFill>
            <a:srgbClr val="1C7293">
              <a:alpha val="40000"/>
            </a:srgbClr>
          </a:solidFill>
          <a:ln w="12700">
            <a:solidFill>
              <a:srgbClr val="1C7293"/>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B"/>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48640"/>
          </a:xfrm>
          <a:prstGeom prst="rect">
            <a:avLst/>
          </a:prstGeom>
          <a:noFill/>
          <a:ln/>
        </p:spPr>
        <p:txBody>
          <a:bodyPr wrap="square" lIns="0" tIns="0" rIns="0" bIns="0" rtlCol="0" anchor="ctr"/>
          <a:lstStyle/>
          <a:p>
            <a:pPr marL="0" indent="0">
              <a:buNone/>
            </a:pPr>
            <a:r>
              <a:rPr lang="en-US" sz="2600" b="1" dirty="0">
                <a:solidFill>
                  <a:srgbClr val="065A82"/>
                </a:solidFill>
                <a:latin typeface="Georgia" pitchFamily="34" charset="0"/>
                <a:ea typeface="Georgia" pitchFamily="34" charset="-122"/>
                <a:cs typeface="Georgia" pitchFamily="34" charset="-120"/>
              </a:rPr>
              <a:t>What is MifosX4MM?</a:t>
            </a:r>
            <a:endParaRPr lang="en-US" sz="2600" dirty="0"/>
          </a:p>
        </p:txBody>
      </p:sp>
      <p:sp>
        <p:nvSpPr>
          <p:cNvPr id="3" name="Shape 1"/>
          <p:cNvSpPr/>
          <p:nvPr/>
        </p:nvSpPr>
        <p:spPr>
          <a:xfrm>
            <a:off x="365760" y="749808"/>
            <a:ext cx="1097280" cy="45720"/>
          </a:xfrm>
          <a:prstGeom prst="rect">
            <a:avLst/>
          </a:prstGeom>
          <a:solidFill>
            <a:srgbClr val="02C39A"/>
          </a:solidFill>
          <a:ln w="12700">
            <a:solidFill>
              <a:srgbClr val="02C39A"/>
            </a:solidFill>
            <a:prstDash val="solid"/>
          </a:ln>
        </p:spPr>
        <p:txBody>
          <a:bodyPr/>
          <a:lstStyle/>
          <a:p>
            <a:endParaRPr lang="en-US"/>
          </a:p>
        </p:txBody>
      </p:sp>
      <p:sp>
        <p:nvSpPr>
          <p:cNvPr id="4" name="Shape 2"/>
          <p:cNvSpPr/>
          <p:nvPr/>
        </p:nvSpPr>
        <p:spPr>
          <a:xfrm>
            <a:off x="365760" y="960120"/>
            <a:ext cx="5029200" cy="3840480"/>
          </a:xfrm>
          <a:prstGeom prst="rect">
            <a:avLst/>
          </a:prstGeom>
          <a:solidFill>
            <a:srgbClr val="FFFFFF"/>
          </a:solidFill>
          <a:ln w="6350">
            <a:solidFill>
              <a:srgbClr val="E2E8F0"/>
            </a:solidFill>
            <a:prstDash val="solid"/>
          </a:ln>
          <a:effectLst>
            <a:outerShdw blurRad="76200" dist="25400" dir="8100000" algn="bl" rotWithShape="0">
              <a:srgbClr val="000000">
                <a:alpha val="8000"/>
              </a:srgbClr>
            </a:outerShdw>
          </a:effectLst>
        </p:spPr>
        <p:txBody>
          <a:bodyPr/>
          <a:lstStyle/>
          <a:p>
            <a:endParaRPr lang="en-US"/>
          </a:p>
        </p:txBody>
      </p:sp>
      <p:sp>
        <p:nvSpPr>
          <p:cNvPr id="5" name="Shape 3"/>
          <p:cNvSpPr/>
          <p:nvPr/>
        </p:nvSpPr>
        <p:spPr>
          <a:xfrm>
            <a:off x="365760" y="960120"/>
            <a:ext cx="64008" cy="3840480"/>
          </a:xfrm>
          <a:prstGeom prst="rect">
            <a:avLst/>
          </a:prstGeom>
          <a:solidFill>
            <a:srgbClr val="02C39A"/>
          </a:solidFill>
          <a:ln w="12700">
            <a:solidFill>
              <a:srgbClr val="02C39A"/>
            </a:solidFill>
            <a:prstDash val="solid"/>
          </a:ln>
        </p:spPr>
        <p:txBody>
          <a:bodyPr/>
          <a:lstStyle/>
          <a:p>
            <a:endParaRPr lang="en-US"/>
          </a:p>
        </p:txBody>
      </p:sp>
      <p:sp>
        <p:nvSpPr>
          <p:cNvPr id="6" name="Text 4"/>
          <p:cNvSpPr/>
          <p:nvPr/>
        </p:nvSpPr>
        <p:spPr>
          <a:xfrm>
            <a:off x="548640" y="1097280"/>
            <a:ext cx="4663440" cy="3520440"/>
          </a:xfrm>
          <a:prstGeom prst="rect">
            <a:avLst/>
          </a:prstGeom>
          <a:noFill/>
          <a:ln/>
        </p:spPr>
        <p:txBody>
          <a:bodyPr wrap="square" rtlCol="0" anchor="t"/>
          <a:lstStyle/>
          <a:p>
            <a:pPr marL="0" indent="0">
              <a:buNone/>
            </a:pPr>
            <a:r>
              <a:rPr lang="en-US" sz="1300" b="1" dirty="0">
                <a:solidFill>
                  <a:srgbClr val="1E293B"/>
                </a:solidFill>
                <a:latin typeface="Calibri" pitchFamily="34" charset="0"/>
                <a:ea typeface="Calibri" pitchFamily="34" charset="-122"/>
                <a:cs typeface="Calibri" pitchFamily="34" charset="-120"/>
              </a:rPr>
              <a:t>A full-stack microfinance platform</a:t>
            </a:r>
            <a:endParaRPr lang="en-US" sz="1300" dirty="0"/>
          </a:p>
          <a:p>
            <a:pPr marL="0" indent="0">
              <a:buNone/>
            </a:pPr>
            <a:r>
              <a:rPr lang="en-US" sz="1300" dirty="0">
                <a:solidFill>
                  <a:srgbClr val="1E293B"/>
                </a:solidFill>
                <a:latin typeface="Calibri" pitchFamily="34" charset="0"/>
                <a:ea typeface="Calibri" pitchFamily="34" charset="-122"/>
                <a:cs typeface="Calibri" pitchFamily="34" charset="-120"/>
              </a:rPr>
              <a:t>built for Myanmar MFIs.
</a:t>
            </a:r>
            <a:endParaRPr lang="en-US" sz="1300" dirty="0"/>
          </a:p>
          <a:p>
            <a:pPr marL="0" indent="0">
              <a:buNone/>
            </a:pPr>
            <a:r>
              <a:rPr lang="en-US" sz="1300" b="1" dirty="0">
                <a:solidFill>
                  <a:srgbClr val="065A82"/>
                </a:solidFill>
                <a:latin typeface="Calibri" pitchFamily="34" charset="0"/>
                <a:ea typeface="Calibri" pitchFamily="34" charset="-122"/>
                <a:cs typeface="Calibri" pitchFamily="34" charset="-120"/>
              </a:rPr>
              <a:t>Purpose</a:t>
            </a:r>
            <a:endParaRPr lang="en-US" sz="1300" dirty="0"/>
          </a:p>
          <a:p>
            <a:pPr marL="0" indent="0">
              <a:buNone/>
            </a:pPr>
            <a:r>
              <a:rPr lang="en-US" sz="1300" dirty="0">
                <a:solidFill>
                  <a:srgbClr val="1E293B"/>
                </a:solidFill>
                <a:latin typeface="Calibri" pitchFamily="34" charset="0"/>
                <a:ea typeface="Calibri" pitchFamily="34" charset="-122"/>
                <a:cs typeface="Calibri" pitchFamily="34" charset="-120"/>
              </a:rPr>
              <a:t>Help loan officers and branch managers manage their entire loan portfolio — from client registration and KYC identity checks to loan approval, disbursement, and mobile repayment.
</a:t>
            </a:r>
            <a:endParaRPr lang="en-US" sz="1300" dirty="0"/>
          </a:p>
          <a:p>
            <a:pPr marL="0" indent="0">
              <a:buNone/>
            </a:pPr>
            <a:r>
              <a:rPr lang="en-US" sz="1300" b="1" dirty="0">
                <a:solidFill>
                  <a:srgbClr val="065A82"/>
                </a:solidFill>
                <a:latin typeface="Calibri" pitchFamily="34" charset="0"/>
                <a:ea typeface="Calibri" pitchFamily="34" charset="-122"/>
                <a:cs typeface="Calibri" pitchFamily="34" charset="-120"/>
              </a:rPr>
              <a:t>Built on Apache Fineract</a:t>
            </a:r>
            <a:endParaRPr lang="en-US" sz="1300" dirty="0"/>
          </a:p>
          <a:p>
            <a:pPr marL="0" indent="0">
              <a:buNone/>
            </a:pPr>
            <a:r>
              <a:rPr lang="en-US" sz="1300" dirty="0">
                <a:solidFill>
                  <a:srgbClr val="1E293B"/>
                </a:solidFill>
                <a:latin typeface="Calibri" pitchFamily="34" charset="0"/>
                <a:ea typeface="Calibri" pitchFamily="34" charset="-122"/>
                <a:cs typeface="Calibri" pitchFamily="34" charset="-120"/>
              </a:rPr>
              <a:t>Battle-tested open-source core banking engine used by 100+ institutions worldwide. We wrap it with a custom API gateway, not fork it.</a:t>
            </a:r>
            <a:endParaRPr lang="en-US" sz="1300" dirty="0"/>
          </a:p>
        </p:txBody>
      </p:sp>
      <p:sp>
        <p:nvSpPr>
          <p:cNvPr id="7" name="Shape 5"/>
          <p:cNvSpPr/>
          <p:nvPr/>
        </p:nvSpPr>
        <p:spPr>
          <a:xfrm>
            <a:off x="5669280" y="960120"/>
            <a:ext cx="1645920" cy="1783080"/>
          </a:xfrm>
          <a:prstGeom prst="rect">
            <a:avLst/>
          </a:prstGeom>
          <a:solidFill>
            <a:srgbClr val="065A82"/>
          </a:solidFill>
          <a:ln/>
          <a:effectLst>
            <a:outerShdw blurRad="101600" dist="50800" dir="16200000" algn="bl" rotWithShape="0">
              <a:srgbClr val="000000">
                <a:alpha val="75000"/>
              </a:srgbClr>
            </a:outerShdw>
          </a:effectLst>
        </p:spPr>
        <p:txBody>
          <a:bodyPr/>
          <a:lstStyle/>
          <a:p>
            <a:endParaRPr lang="en-US"/>
          </a:p>
        </p:txBody>
      </p:sp>
      <p:sp>
        <p:nvSpPr>
          <p:cNvPr id="8" name="Text 6"/>
          <p:cNvSpPr/>
          <p:nvPr/>
        </p:nvSpPr>
        <p:spPr>
          <a:xfrm>
            <a:off x="5715000" y="1188720"/>
            <a:ext cx="1554480" cy="77724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7</a:t>
            </a:r>
            <a:endParaRPr lang="en-US" sz="3400" dirty="0"/>
          </a:p>
        </p:txBody>
      </p:sp>
      <p:sp>
        <p:nvSpPr>
          <p:cNvPr id="9" name="Text 7"/>
          <p:cNvSpPr/>
          <p:nvPr/>
        </p:nvSpPr>
        <p:spPr>
          <a:xfrm>
            <a:off x="5715000" y="1965960"/>
            <a:ext cx="1554480" cy="548640"/>
          </a:xfrm>
          <a:prstGeom prst="rect">
            <a:avLst/>
          </a:prstGeom>
          <a:noFill/>
          <a:ln/>
        </p:spPr>
        <p:txBody>
          <a:bodyPr wrap="square" rtlCol="0" anchor="ctr"/>
          <a:lstStyle/>
          <a:p>
            <a:pPr marL="0" indent="0" algn="ctr">
              <a:buNone/>
            </a:pPr>
            <a:r>
              <a:rPr lang="en-US" sz="1100" dirty="0">
                <a:solidFill>
                  <a:srgbClr val="D0EAF5"/>
                </a:solidFill>
                <a:latin typeface="Calibri" pitchFamily="34" charset="0"/>
                <a:ea typeface="Calibri" pitchFamily="34" charset="-122"/>
                <a:cs typeface="Calibri" pitchFamily="34" charset="-120"/>
              </a:rPr>
              <a:t>Microservices</a:t>
            </a:r>
            <a:endParaRPr lang="en-US" sz="1100" dirty="0"/>
          </a:p>
        </p:txBody>
      </p:sp>
      <p:sp>
        <p:nvSpPr>
          <p:cNvPr id="10" name="Shape 8"/>
          <p:cNvSpPr/>
          <p:nvPr/>
        </p:nvSpPr>
        <p:spPr>
          <a:xfrm>
            <a:off x="7452360" y="960120"/>
            <a:ext cx="1645920" cy="1783080"/>
          </a:xfrm>
          <a:prstGeom prst="rect">
            <a:avLst/>
          </a:prstGeom>
          <a:solidFill>
            <a:srgbClr val="1C7293"/>
          </a:solidFill>
          <a:ln/>
          <a:effectLst>
            <a:outerShdw blurRad="101600" dist="50800" dir="16200000" algn="bl" rotWithShape="0">
              <a:srgbClr val="000000">
                <a:alpha val="75000"/>
              </a:srgbClr>
            </a:outerShdw>
          </a:effectLst>
        </p:spPr>
        <p:txBody>
          <a:bodyPr/>
          <a:lstStyle/>
          <a:p>
            <a:endParaRPr lang="en-US"/>
          </a:p>
        </p:txBody>
      </p:sp>
      <p:sp>
        <p:nvSpPr>
          <p:cNvPr id="11" name="Text 9"/>
          <p:cNvSpPr/>
          <p:nvPr/>
        </p:nvSpPr>
        <p:spPr>
          <a:xfrm>
            <a:off x="7498080" y="1188720"/>
            <a:ext cx="1554480" cy="77724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5</a:t>
            </a:r>
            <a:endParaRPr lang="en-US" sz="3400" dirty="0"/>
          </a:p>
        </p:txBody>
      </p:sp>
      <p:sp>
        <p:nvSpPr>
          <p:cNvPr id="12" name="Text 10"/>
          <p:cNvSpPr/>
          <p:nvPr/>
        </p:nvSpPr>
        <p:spPr>
          <a:xfrm>
            <a:off x="7498080" y="1965960"/>
            <a:ext cx="1554480" cy="548640"/>
          </a:xfrm>
          <a:prstGeom prst="rect">
            <a:avLst/>
          </a:prstGeom>
          <a:noFill/>
          <a:ln/>
        </p:spPr>
        <p:txBody>
          <a:bodyPr wrap="square" rtlCol="0" anchor="ctr"/>
          <a:lstStyle/>
          <a:p>
            <a:pPr marL="0" indent="0" algn="ctr">
              <a:buNone/>
            </a:pPr>
            <a:r>
              <a:rPr lang="en-US" sz="1100" dirty="0">
                <a:solidFill>
                  <a:srgbClr val="D0EAF5"/>
                </a:solidFill>
                <a:latin typeface="Calibri" pitchFamily="34" charset="0"/>
                <a:ea typeface="Calibri" pitchFamily="34" charset="-122"/>
                <a:cs typeface="Calibri" pitchFamily="34" charset="-120"/>
              </a:rPr>
              <a:t>User Roles</a:t>
            </a:r>
            <a:endParaRPr lang="en-US" sz="1100" dirty="0"/>
          </a:p>
        </p:txBody>
      </p:sp>
      <p:sp>
        <p:nvSpPr>
          <p:cNvPr id="13" name="Shape 11"/>
          <p:cNvSpPr/>
          <p:nvPr/>
        </p:nvSpPr>
        <p:spPr>
          <a:xfrm>
            <a:off x="5669280" y="2926080"/>
            <a:ext cx="1645920" cy="1783080"/>
          </a:xfrm>
          <a:prstGeom prst="rect">
            <a:avLst/>
          </a:prstGeom>
          <a:solidFill>
            <a:srgbClr val="02C39A"/>
          </a:solidFill>
          <a:ln/>
          <a:effectLst>
            <a:outerShdw blurRad="101600" dist="50800" dir="16200000" algn="bl" rotWithShape="0">
              <a:srgbClr val="000000">
                <a:alpha val="75000"/>
              </a:srgbClr>
            </a:outerShdw>
          </a:effectLst>
        </p:spPr>
        <p:txBody>
          <a:bodyPr/>
          <a:lstStyle/>
          <a:p>
            <a:endParaRPr lang="en-US"/>
          </a:p>
        </p:txBody>
      </p:sp>
      <p:sp>
        <p:nvSpPr>
          <p:cNvPr id="14" name="Text 12"/>
          <p:cNvSpPr/>
          <p:nvPr/>
        </p:nvSpPr>
        <p:spPr>
          <a:xfrm>
            <a:off x="5715000" y="3154680"/>
            <a:ext cx="1554480" cy="77724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2</a:t>
            </a:r>
            <a:endParaRPr lang="en-US" sz="3400" dirty="0"/>
          </a:p>
        </p:txBody>
      </p:sp>
      <p:sp>
        <p:nvSpPr>
          <p:cNvPr id="15" name="Text 13"/>
          <p:cNvSpPr/>
          <p:nvPr/>
        </p:nvSpPr>
        <p:spPr>
          <a:xfrm>
            <a:off x="5715000" y="3931920"/>
            <a:ext cx="1554480" cy="548640"/>
          </a:xfrm>
          <a:prstGeom prst="rect">
            <a:avLst/>
          </a:prstGeom>
          <a:noFill/>
          <a:ln/>
        </p:spPr>
        <p:txBody>
          <a:bodyPr wrap="square" rtlCol="0" anchor="ctr"/>
          <a:lstStyle/>
          <a:p>
            <a:pPr marL="0" indent="0" algn="ctr">
              <a:buNone/>
            </a:pPr>
            <a:r>
              <a:rPr lang="en-US" sz="1100" dirty="0">
                <a:solidFill>
                  <a:srgbClr val="D0EAF5"/>
                </a:solidFill>
                <a:latin typeface="Calibri" pitchFamily="34" charset="0"/>
                <a:ea typeface="Calibri" pitchFamily="34" charset="-122"/>
                <a:cs typeface="Calibri" pitchFamily="34" charset="-120"/>
              </a:rPr>
              <a:t>Databases</a:t>
            </a:r>
            <a:endParaRPr lang="en-US" sz="1100" dirty="0"/>
          </a:p>
        </p:txBody>
      </p:sp>
      <p:sp>
        <p:nvSpPr>
          <p:cNvPr id="16" name="Shape 14"/>
          <p:cNvSpPr/>
          <p:nvPr/>
        </p:nvSpPr>
        <p:spPr>
          <a:xfrm>
            <a:off x="7452360" y="2926080"/>
            <a:ext cx="1645920" cy="1783080"/>
          </a:xfrm>
          <a:prstGeom prst="rect">
            <a:avLst/>
          </a:prstGeom>
          <a:solidFill>
            <a:srgbClr val="1E5F74"/>
          </a:solidFill>
          <a:ln/>
          <a:effectLst>
            <a:outerShdw blurRad="101600" dist="50800" dir="16200000" algn="bl" rotWithShape="0">
              <a:srgbClr val="000000">
                <a:alpha val="75000"/>
              </a:srgbClr>
            </a:outerShdw>
          </a:effectLst>
        </p:spPr>
        <p:txBody>
          <a:bodyPr/>
          <a:lstStyle/>
          <a:p>
            <a:endParaRPr lang="en-US"/>
          </a:p>
        </p:txBody>
      </p:sp>
      <p:sp>
        <p:nvSpPr>
          <p:cNvPr id="17" name="Text 15"/>
          <p:cNvSpPr/>
          <p:nvPr/>
        </p:nvSpPr>
        <p:spPr>
          <a:xfrm>
            <a:off x="7498080" y="3154680"/>
            <a:ext cx="1554480" cy="777240"/>
          </a:xfrm>
          <a:prstGeom prst="rect">
            <a:avLst/>
          </a:prstGeom>
          <a:noFill/>
          <a:ln/>
        </p:spPr>
        <p:txBody>
          <a:bodyPr wrap="square" lIns="0" tIns="0" rIns="0" bIns="0" rtlCol="0" anchor="ctr"/>
          <a:lstStyle/>
          <a:p>
            <a:pPr marL="0" indent="0" algn="ctr">
              <a:buNone/>
            </a:pPr>
            <a:r>
              <a:rPr lang="en-US" sz="3400" b="1" dirty="0">
                <a:solidFill>
                  <a:srgbClr val="FFFFFF"/>
                </a:solidFill>
                <a:latin typeface="Georgia" pitchFamily="34" charset="0"/>
                <a:ea typeface="Georgia" pitchFamily="34" charset="-122"/>
                <a:cs typeface="Georgia" pitchFamily="34" charset="-120"/>
              </a:rPr>
              <a:t>100+</a:t>
            </a:r>
            <a:endParaRPr lang="en-US" sz="3400" dirty="0"/>
          </a:p>
        </p:txBody>
      </p:sp>
      <p:sp>
        <p:nvSpPr>
          <p:cNvPr id="18" name="Text 16"/>
          <p:cNvSpPr/>
          <p:nvPr/>
        </p:nvSpPr>
        <p:spPr>
          <a:xfrm>
            <a:off x="7498080" y="3931920"/>
            <a:ext cx="1554480" cy="548640"/>
          </a:xfrm>
          <a:prstGeom prst="rect">
            <a:avLst/>
          </a:prstGeom>
          <a:noFill/>
          <a:ln/>
        </p:spPr>
        <p:txBody>
          <a:bodyPr wrap="square" rtlCol="0" anchor="ctr"/>
          <a:lstStyle/>
          <a:p>
            <a:pPr marL="0" indent="0" algn="ctr">
              <a:buNone/>
            </a:pPr>
            <a:r>
              <a:rPr lang="en-US" sz="1100" dirty="0">
                <a:solidFill>
                  <a:srgbClr val="D0EAF5"/>
                </a:solidFill>
                <a:latin typeface="Calibri" pitchFamily="34" charset="0"/>
                <a:ea typeface="Calibri" pitchFamily="34" charset="-122"/>
                <a:cs typeface="Calibri" pitchFamily="34" charset="-120"/>
              </a:rPr>
              <a:t>MFIs Worldwide use Fineract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7FB"/>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48640"/>
          </a:xfrm>
          <a:prstGeom prst="rect">
            <a:avLst/>
          </a:prstGeom>
          <a:noFill/>
          <a:ln/>
        </p:spPr>
        <p:txBody>
          <a:bodyPr wrap="square" lIns="0" tIns="0" rIns="0" bIns="0" rtlCol="0" anchor="ctr"/>
          <a:lstStyle/>
          <a:p>
            <a:pPr marL="0" indent="0">
              <a:buNone/>
            </a:pPr>
            <a:r>
              <a:rPr lang="en-US" sz="2600" b="1" dirty="0">
                <a:solidFill>
                  <a:srgbClr val="065A82"/>
                </a:solidFill>
                <a:latin typeface="Georgia" pitchFamily="34" charset="0"/>
                <a:ea typeface="Georgia" pitchFamily="34" charset="-122"/>
                <a:cs typeface="Georgia" pitchFamily="34" charset="-120"/>
              </a:rPr>
              <a:t>System Architecture</a:t>
            </a:r>
            <a:endParaRPr lang="en-US" sz="2600" dirty="0"/>
          </a:p>
        </p:txBody>
      </p:sp>
      <p:sp>
        <p:nvSpPr>
          <p:cNvPr id="4" name="Shape 2"/>
          <p:cNvSpPr/>
          <p:nvPr/>
        </p:nvSpPr>
        <p:spPr>
          <a:xfrm>
            <a:off x="274320" y="868680"/>
            <a:ext cx="8595360" cy="777240"/>
          </a:xfrm>
          <a:prstGeom prst="rect">
            <a:avLst/>
          </a:prstGeom>
          <a:solidFill>
            <a:srgbClr val="E8F4FA"/>
          </a:solidFill>
          <a:ln w="10160">
            <a:solidFill>
              <a:srgbClr val="AACFE0"/>
            </a:solidFill>
            <a:prstDash val="solid"/>
          </a:ln>
        </p:spPr>
        <p:txBody>
          <a:bodyPr/>
          <a:lstStyle/>
          <a:p>
            <a:endParaRPr lang="en-US"/>
          </a:p>
        </p:txBody>
      </p:sp>
      <p:sp>
        <p:nvSpPr>
          <p:cNvPr id="5" name="Text 3"/>
          <p:cNvSpPr/>
          <p:nvPr/>
        </p:nvSpPr>
        <p:spPr>
          <a:xfrm>
            <a:off x="213808" y="819531"/>
            <a:ext cx="914400" cy="228600"/>
          </a:xfrm>
          <a:prstGeom prst="rect">
            <a:avLst/>
          </a:prstGeom>
          <a:noFill/>
          <a:ln/>
        </p:spPr>
        <p:txBody>
          <a:bodyPr wrap="square" rtlCol="0" anchor="ctr"/>
          <a:lstStyle/>
          <a:p>
            <a:pPr marL="0" indent="0">
              <a:buNone/>
            </a:pPr>
            <a:r>
              <a:rPr lang="en-US" sz="800" b="1" dirty="0">
                <a:solidFill>
                  <a:srgbClr val="64748B"/>
                </a:solidFill>
                <a:latin typeface="Calibri" pitchFamily="34" charset="0"/>
                <a:ea typeface="Calibri" pitchFamily="34" charset="-122"/>
                <a:cs typeface="Calibri" pitchFamily="34" charset="-120"/>
              </a:rPr>
              <a:t>CLIENTS</a:t>
            </a:r>
            <a:endParaRPr lang="en-US" sz="800" dirty="0"/>
          </a:p>
        </p:txBody>
      </p:sp>
      <p:sp>
        <p:nvSpPr>
          <p:cNvPr id="6" name="Shape 4"/>
          <p:cNvSpPr/>
          <p:nvPr/>
        </p:nvSpPr>
        <p:spPr>
          <a:xfrm>
            <a:off x="457200" y="987552"/>
            <a:ext cx="2011680" cy="502920"/>
          </a:xfrm>
          <a:prstGeom prst="rect">
            <a:avLst/>
          </a:prstGeom>
          <a:solidFill>
            <a:srgbClr val="1C7293"/>
          </a:solidFill>
          <a:ln w="10160">
            <a:solidFill>
              <a:srgbClr val="AACFE0"/>
            </a:solidFill>
            <a:prstDash val="solid"/>
          </a:ln>
        </p:spPr>
        <p:txBody>
          <a:bodyPr/>
          <a:lstStyle/>
          <a:p>
            <a:endParaRPr lang="en-US"/>
          </a:p>
        </p:txBody>
      </p:sp>
      <p:sp>
        <p:nvSpPr>
          <p:cNvPr id="7" name="Text 5"/>
          <p:cNvSpPr/>
          <p:nvPr/>
        </p:nvSpPr>
        <p:spPr>
          <a:xfrm>
            <a:off x="502920" y="1033272"/>
            <a:ext cx="1920240" cy="27660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Web Portal (Next.js)</a:t>
            </a:r>
            <a:endParaRPr lang="en-US" sz="1000" dirty="0"/>
          </a:p>
        </p:txBody>
      </p:sp>
      <p:sp>
        <p:nvSpPr>
          <p:cNvPr id="8" name="Text 6"/>
          <p:cNvSpPr/>
          <p:nvPr/>
        </p:nvSpPr>
        <p:spPr>
          <a:xfrm>
            <a:off x="502920" y="1264158"/>
            <a:ext cx="1920240" cy="201168"/>
          </a:xfrm>
          <a:prstGeom prst="rect">
            <a:avLst/>
          </a:prstGeom>
          <a:noFill/>
          <a:ln/>
        </p:spPr>
        <p:txBody>
          <a:bodyPr wrap="square" lIns="0" tIns="0" rIns="0" bIns="0" rtlCol="0" anchor="ctr"/>
          <a:lstStyle/>
          <a:p>
            <a:pPr marL="0" indent="0" algn="ctr">
              <a:buNone/>
            </a:pPr>
            <a:r>
              <a:rPr lang="en-US" sz="800" dirty="0">
                <a:solidFill>
                  <a:srgbClr val="9FCCDF"/>
                </a:solidFill>
                <a:latin typeface="Calibri" pitchFamily="34" charset="0"/>
                <a:ea typeface="Calibri" pitchFamily="34" charset="-122"/>
                <a:cs typeface="Calibri" pitchFamily="34" charset="-120"/>
              </a:rPr>
              <a:t>:3000</a:t>
            </a:r>
            <a:endParaRPr lang="en-US" sz="800" dirty="0">
              <a:solidFill>
                <a:srgbClr val="9FCCDF"/>
              </a:solidFill>
            </a:endParaRPr>
          </a:p>
        </p:txBody>
      </p:sp>
      <p:sp>
        <p:nvSpPr>
          <p:cNvPr id="9" name="Shape 7"/>
          <p:cNvSpPr/>
          <p:nvPr/>
        </p:nvSpPr>
        <p:spPr>
          <a:xfrm>
            <a:off x="2743200" y="987552"/>
            <a:ext cx="2011680" cy="502920"/>
          </a:xfrm>
          <a:prstGeom prst="rect">
            <a:avLst/>
          </a:prstGeom>
          <a:solidFill>
            <a:srgbClr val="1C7293"/>
          </a:solidFill>
          <a:ln w="10160">
            <a:solidFill>
              <a:srgbClr val="AACFE0"/>
            </a:solidFill>
            <a:prstDash val="solid"/>
          </a:ln>
        </p:spPr>
        <p:txBody>
          <a:bodyPr/>
          <a:lstStyle/>
          <a:p>
            <a:endParaRPr lang="en-US"/>
          </a:p>
        </p:txBody>
      </p:sp>
      <p:sp>
        <p:nvSpPr>
          <p:cNvPr id="10" name="Text 8"/>
          <p:cNvSpPr/>
          <p:nvPr/>
        </p:nvSpPr>
        <p:spPr>
          <a:xfrm>
            <a:off x="2788920" y="1033272"/>
            <a:ext cx="1920240" cy="27660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Mobile App (Expo RN)</a:t>
            </a:r>
            <a:endParaRPr lang="en-US" sz="1000" dirty="0"/>
          </a:p>
        </p:txBody>
      </p:sp>
      <p:sp>
        <p:nvSpPr>
          <p:cNvPr id="11" name="Text 9"/>
          <p:cNvSpPr/>
          <p:nvPr/>
        </p:nvSpPr>
        <p:spPr>
          <a:xfrm>
            <a:off x="2788920" y="1264158"/>
            <a:ext cx="1920240" cy="201168"/>
          </a:xfrm>
          <a:prstGeom prst="rect">
            <a:avLst/>
          </a:prstGeom>
          <a:noFill/>
          <a:ln/>
        </p:spPr>
        <p:txBody>
          <a:bodyPr wrap="square" lIns="0" tIns="0" rIns="0" bIns="0" rtlCol="0" anchor="ctr"/>
          <a:lstStyle/>
          <a:p>
            <a:pPr marL="0" indent="0" algn="ctr">
              <a:buNone/>
            </a:pPr>
            <a:r>
              <a:rPr lang="en-US" sz="800" dirty="0">
                <a:solidFill>
                  <a:srgbClr val="9FCCDF"/>
                </a:solidFill>
                <a:latin typeface="Calibri" pitchFamily="34" charset="0"/>
                <a:ea typeface="Calibri" pitchFamily="34" charset="-122"/>
                <a:cs typeface="Calibri" pitchFamily="34" charset="-120"/>
              </a:rPr>
              <a:t>iOS / Android</a:t>
            </a:r>
            <a:endParaRPr lang="en-US" sz="800" dirty="0">
              <a:solidFill>
                <a:srgbClr val="9FCCDF"/>
              </a:solidFill>
            </a:endParaRPr>
          </a:p>
        </p:txBody>
      </p:sp>
      <p:sp>
        <p:nvSpPr>
          <p:cNvPr id="12" name="Text 10"/>
          <p:cNvSpPr/>
          <p:nvPr/>
        </p:nvSpPr>
        <p:spPr>
          <a:xfrm>
            <a:off x="4937760" y="960120"/>
            <a:ext cx="1005840" cy="502920"/>
          </a:xfrm>
          <a:prstGeom prst="rect">
            <a:avLst/>
          </a:prstGeom>
          <a:noFill/>
          <a:ln/>
        </p:spPr>
        <p:txBody>
          <a:bodyPr wrap="square"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JWT RS256</a:t>
            </a:r>
            <a:endParaRPr lang="en-US" sz="800" dirty="0"/>
          </a:p>
        </p:txBody>
      </p:sp>
      <p:sp>
        <p:nvSpPr>
          <p:cNvPr id="13" name="Shape 11"/>
          <p:cNvSpPr/>
          <p:nvPr/>
        </p:nvSpPr>
        <p:spPr>
          <a:xfrm>
            <a:off x="1463040" y="1490472"/>
            <a:ext cx="0" cy="384048"/>
          </a:xfrm>
          <a:prstGeom prst="line">
            <a:avLst/>
          </a:prstGeom>
          <a:noFill/>
          <a:ln w="19050">
            <a:solidFill>
              <a:srgbClr val="02C39A"/>
            </a:solidFill>
            <a:prstDash val="dash"/>
          </a:ln>
        </p:spPr>
        <p:txBody>
          <a:bodyPr/>
          <a:lstStyle/>
          <a:p>
            <a:endParaRPr lang="en-US"/>
          </a:p>
        </p:txBody>
      </p:sp>
      <p:sp>
        <p:nvSpPr>
          <p:cNvPr id="14" name="Shape 12"/>
          <p:cNvSpPr/>
          <p:nvPr/>
        </p:nvSpPr>
        <p:spPr>
          <a:xfrm>
            <a:off x="3749040" y="1490472"/>
            <a:ext cx="0" cy="384048"/>
          </a:xfrm>
          <a:prstGeom prst="line">
            <a:avLst/>
          </a:prstGeom>
          <a:noFill/>
          <a:ln w="19050">
            <a:solidFill>
              <a:srgbClr val="02C39A"/>
            </a:solidFill>
            <a:prstDash val="dash"/>
          </a:ln>
        </p:spPr>
        <p:txBody>
          <a:bodyPr/>
          <a:lstStyle/>
          <a:p>
            <a:endParaRPr lang="en-US"/>
          </a:p>
        </p:txBody>
      </p:sp>
      <p:sp>
        <p:nvSpPr>
          <p:cNvPr id="15" name="Shape 13"/>
          <p:cNvSpPr/>
          <p:nvPr/>
        </p:nvSpPr>
        <p:spPr>
          <a:xfrm>
            <a:off x="274320" y="1874520"/>
            <a:ext cx="8595360" cy="731520"/>
          </a:xfrm>
          <a:prstGeom prst="rect">
            <a:avLst/>
          </a:prstGeom>
          <a:solidFill>
            <a:srgbClr val="065A82"/>
          </a:solidFill>
          <a:ln w="12700">
            <a:solidFill>
              <a:srgbClr val="1C7293"/>
            </a:solidFill>
            <a:prstDash val="solid"/>
          </a:ln>
        </p:spPr>
        <p:txBody>
          <a:bodyPr/>
          <a:lstStyle/>
          <a:p>
            <a:endParaRPr lang="en-US"/>
          </a:p>
        </p:txBody>
      </p:sp>
      <p:sp>
        <p:nvSpPr>
          <p:cNvPr id="16" name="Text 14"/>
          <p:cNvSpPr/>
          <p:nvPr/>
        </p:nvSpPr>
        <p:spPr>
          <a:xfrm>
            <a:off x="411480" y="1920240"/>
            <a:ext cx="8321040" cy="5943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API GATEWAY  (Fastify :3001)  —  /auth  /clients  /loans  /payments  /dashboard  —  JWT auth + RBAC</a:t>
            </a:r>
            <a:endParaRPr lang="en-US" sz="1100" dirty="0"/>
          </a:p>
        </p:txBody>
      </p:sp>
      <p:sp>
        <p:nvSpPr>
          <p:cNvPr id="17" name="Shape 15"/>
          <p:cNvSpPr/>
          <p:nvPr/>
        </p:nvSpPr>
        <p:spPr>
          <a:xfrm>
            <a:off x="1188720" y="2606040"/>
            <a:ext cx="0" cy="320040"/>
          </a:xfrm>
          <a:prstGeom prst="line">
            <a:avLst/>
          </a:prstGeom>
          <a:noFill/>
          <a:ln w="19050">
            <a:solidFill>
              <a:srgbClr val="02C39A"/>
            </a:solidFill>
            <a:prstDash val="dash"/>
          </a:ln>
        </p:spPr>
        <p:txBody>
          <a:bodyPr/>
          <a:lstStyle/>
          <a:p>
            <a:endParaRPr lang="en-US"/>
          </a:p>
        </p:txBody>
      </p:sp>
      <p:sp>
        <p:nvSpPr>
          <p:cNvPr id="18" name="Shape 16"/>
          <p:cNvSpPr/>
          <p:nvPr/>
        </p:nvSpPr>
        <p:spPr>
          <a:xfrm>
            <a:off x="2834640" y="2606040"/>
            <a:ext cx="0" cy="320040"/>
          </a:xfrm>
          <a:prstGeom prst="line">
            <a:avLst/>
          </a:prstGeom>
          <a:noFill/>
          <a:ln w="19050">
            <a:solidFill>
              <a:srgbClr val="02C39A"/>
            </a:solidFill>
            <a:prstDash val="dash"/>
          </a:ln>
        </p:spPr>
        <p:txBody>
          <a:bodyPr/>
          <a:lstStyle/>
          <a:p>
            <a:endParaRPr lang="en-US"/>
          </a:p>
        </p:txBody>
      </p:sp>
      <p:sp>
        <p:nvSpPr>
          <p:cNvPr id="19" name="Shape 17"/>
          <p:cNvSpPr/>
          <p:nvPr/>
        </p:nvSpPr>
        <p:spPr>
          <a:xfrm>
            <a:off x="4480560" y="2606040"/>
            <a:ext cx="0" cy="320040"/>
          </a:xfrm>
          <a:prstGeom prst="line">
            <a:avLst/>
          </a:prstGeom>
          <a:noFill/>
          <a:ln w="19050">
            <a:solidFill>
              <a:srgbClr val="02C39A"/>
            </a:solidFill>
            <a:prstDash val="dash"/>
          </a:ln>
        </p:spPr>
        <p:txBody>
          <a:bodyPr/>
          <a:lstStyle/>
          <a:p>
            <a:endParaRPr lang="en-US"/>
          </a:p>
        </p:txBody>
      </p:sp>
      <p:sp>
        <p:nvSpPr>
          <p:cNvPr id="20" name="Shape 18"/>
          <p:cNvSpPr/>
          <p:nvPr/>
        </p:nvSpPr>
        <p:spPr>
          <a:xfrm>
            <a:off x="6126480" y="2606040"/>
            <a:ext cx="0" cy="320040"/>
          </a:xfrm>
          <a:prstGeom prst="line">
            <a:avLst/>
          </a:prstGeom>
          <a:noFill/>
          <a:ln w="19050">
            <a:solidFill>
              <a:srgbClr val="02C39A"/>
            </a:solidFill>
            <a:prstDash val="dash"/>
          </a:ln>
        </p:spPr>
        <p:txBody>
          <a:bodyPr/>
          <a:lstStyle/>
          <a:p>
            <a:endParaRPr lang="en-US"/>
          </a:p>
        </p:txBody>
      </p:sp>
      <p:sp>
        <p:nvSpPr>
          <p:cNvPr id="21" name="Shape 19"/>
          <p:cNvSpPr/>
          <p:nvPr/>
        </p:nvSpPr>
        <p:spPr>
          <a:xfrm>
            <a:off x="7863840" y="2606040"/>
            <a:ext cx="0" cy="320040"/>
          </a:xfrm>
          <a:prstGeom prst="line">
            <a:avLst/>
          </a:prstGeom>
          <a:noFill/>
          <a:ln w="19050">
            <a:solidFill>
              <a:srgbClr val="02C39A"/>
            </a:solidFill>
            <a:prstDash val="dash"/>
          </a:ln>
        </p:spPr>
        <p:txBody>
          <a:bodyPr/>
          <a:lstStyle/>
          <a:p>
            <a:endParaRPr lang="en-US"/>
          </a:p>
        </p:txBody>
      </p:sp>
      <p:sp>
        <p:nvSpPr>
          <p:cNvPr id="22" name="Shape 20"/>
          <p:cNvSpPr/>
          <p:nvPr/>
        </p:nvSpPr>
        <p:spPr>
          <a:xfrm>
            <a:off x="320040" y="2926080"/>
            <a:ext cx="1463040" cy="685800"/>
          </a:xfrm>
          <a:prstGeom prst="rect">
            <a:avLst/>
          </a:prstGeom>
          <a:solidFill>
            <a:srgbClr val="1E5F74"/>
          </a:solidFill>
          <a:ln w="10160">
            <a:solidFill>
              <a:srgbClr val="AACFE0"/>
            </a:solidFill>
            <a:prstDash val="solid"/>
          </a:ln>
        </p:spPr>
        <p:txBody>
          <a:bodyPr/>
          <a:lstStyle/>
          <a:p>
            <a:endParaRPr lang="en-US"/>
          </a:p>
        </p:txBody>
      </p:sp>
      <p:sp>
        <p:nvSpPr>
          <p:cNvPr id="23" name="Text 21"/>
          <p:cNvSpPr/>
          <p:nvPr/>
        </p:nvSpPr>
        <p:spPr>
          <a:xfrm>
            <a:off x="365760" y="2971800"/>
            <a:ext cx="1371600" cy="37719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Keycloak</a:t>
            </a:r>
            <a:endParaRPr lang="en-US" sz="1000" dirty="0"/>
          </a:p>
        </p:txBody>
      </p:sp>
      <p:sp>
        <p:nvSpPr>
          <p:cNvPr id="24" name="Text 22"/>
          <p:cNvSpPr/>
          <p:nvPr/>
        </p:nvSpPr>
        <p:spPr>
          <a:xfrm>
            <a:off x="365760" y="3303270"/>
            <a:ext cx="1371600" cy="274320"/>
          </a:xfrm>
          <a:prstGeom prst="rect">
            <a:avLst/>
          </a:prstGeom>
          <a:noFill/>
          <a:ln/>
        </p:spPr>
        <p:txBody>
          <a:bodyPr wrap="square" lIns="0" tIns="0" rIns="0" bIns="0" rtlCol="0" anchor="ctr"/>
          <a:lstStyle/>
          <a:p>
            <a:pPr marL="0" indent="0" algn="ctr">
              <a:buNone/>
            </a:pPr>
            <a:r>
              <a:rPr lang="en-US" sz="800" dirty="0">
                <a:solidFill>
                  <a:srgbClr val="C8E6F5"/>
                </a:solidFill>
                <a:latin typeface="Calibri" pitchFamily="34" charset="0"/>
                <a:ea typeface="Calibri" pitchFamily="34" charset="-122"/>
                <a:cs typeface="Calibri" pitchFamily="34" charset="-120"/>
              </a:rPr>
              <a:t>:8180</a:t>
            </a:r>
            <a:endParaRPr lang="en-US" sz="800" dirty="0"/>
          </a:p>
        </p:txBody>
      </p:sp>
      <p:sp>
        <p:nvSpPr>
          <p:cNvPr id="25" name="Shape 23"/>
          <p:cNvSpPr/>
          <p:nvPr/>
        </p:nvSpPr>
        <p:spPr>
          <a:xfrm>
            <a:off x="1965960" y="2926080"/>
            <a:ext cx="1463040" cy="685800"/>
          </a:xfrm>
          <a:prstGeom prst="rect">
            <a:avLst/>
          </a:prstGeom>
          <a:solidFill>
            <a:srgbClr val="065A82"/>
          </a:solidFill>
          <a:ln w="10160">
            <a:solidFill>
              <a:srgbClr val="AACFE0"/>
            </a:solidFill>
            <a:prstDash val="solid"/>
          </a:ln>
        </p:spPr>
        <p:txBody>
          <a:bodyPr/>
          <a:lstStyle/>
          <a:p>
            <a:endParaRPr lang="en-US"/>
          </a:p>
        </p:txBody>
      </p:sp>
      <p:sp>
        <p:nvSpPr>
          <p:cNvPr id="26" name="Text 24"/>
          <p:cNvSpPr/>
          <p:nvPr/>
        </p:nvSpPr>
        <p:spPr>
          <a:xfrm>
            <a:off x="2011680" y="2971800"/>
            <a:ext cx="1371600" cy="37719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Fineract</a:t>
            </a:r>
            <a:endParaRPr lang="en-US" sz="1000" dirty="0"/>
          </a:p>
        </p:txBody>
      </p:sp>
      <p:sp>
        <p:nvSpPr>
          <p:cNvPr id="27" name="Text 25"/>
          <p:cNvSpPr/>
          <p:nvPr/>
        </p:nvSpPr>
        <p:spPr>
          <a:xfrm>
            <a:off x="2011680" y="3303270"/>
            <a:ext cx="1371600" cy="274320"/>
          </a:xfrm>
          <a:prstGeom prst="rect">
            <a:avLst/>
          </a:prstGeom>
          <a:noFill/>
          <a:ln/>
        </p:spPr>
        <p:txBody>
          <a:bodyPr wrap="square" lIns="0" tIns="0" rIns="0" bIns="0" rtlCol="0" anchor="ctr"/>
          <a:lstStyle/>
          <a:p>
            <a:pPr marL="0" indent="0" algn="ctr">
              <a:buNone/>
            </a:pPr>
            <a:r>
              <a:rPr lang="en-US" sz="800" dirty="0">
                <a:solidFill>
                  <a:srgbClr val="C8E6F5"/>
                </a:solidFill>
                <a:latin typeface="Calibri" pitchFamily="34" charset="0"/>
                <a:ea typeface="Calibri" pitchFamily="34" charset="-122"/>
                <a:cs typeface="Calibri" pitchFamily="34" charset="-120"/>
              </a:rPr>
              <a:t>:8080</a:t>
            </a:r>
            <a:endParaRPr lang="en-US" sz="800" dirty="0"/>
          </a:p>
        </p:txBody>
      </p:sp>
      <p:sp>
        <p:nvSpPr>
          <p:cNvPr id="28" name="Shape 26"/>
          <p:cNvSpPr/>
          <p:nvPr/>
        </p:nvSpPr>
        <p:spPr>
          <a:xfrm>
            <a:off x="3611880" y="2926080"/>
            <a:ext cx="1508760" cy="685800"/>
          </a:xfrm>
          <a:prstGeom prst="rect">
            <a:avLst/>
          </a:prstGeom>
          <a:solidFill>
            <a:srgbClr val="0E7490"/>
          </a:solidFill>
          <a:ln w="10160">
            <a:solidFill>
              <a:srgbClr val="AACFE0"/>
            </a:solidFill>
            <a:prstDash val="solid"/>
          </a:ln>
        </p:spPr>
        <p:txBody>
          <a:bodyPr/>
          <a:lstStyle/>
          <a:p>
            <a:endParaRPr lang="en-US"/>
          </a:p>
        </p:txBody>
      </p:sp>
      <p:sp>
        <p:nvSpPr>
          <p:cNvPr id="29" name="Text 27"/>
          <p:cNvSpPr/>
          <p:nvPr/>
        </p:nvSpPr>
        <p:spPr>
          <a:xfrm>
            <a:off x="3657600" y="2971800"/>
            <a:ext cx="1417320" cy="37719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Mobile Money</a:t>
            </a:r>
            <a:endParaRPr lang="en-US" sz="1000" dirty="0"/>
          </a:p>
        </p:txBody>
      </p:sp>
      <p:sp>
        <p:nvSpPr>
          <p:cNvPr id="30" name="Text 28"/>
          <p:cNvSpPr/>
          <p:nvPr/>
        </p:nvSpPr>
        <p:spPr>
          <a:xfrm>
            <a:off x="3657600" y="3303270"/>
            <a:ext cx="1417320" cy="274320"/>
          </a:xfrm>
          <a:prstGeom prst="rect">
            <a:avLst/>
          </a:prstGeom>
          <a:noFill/>
          <a:ln/>
        </p:spPr>
        <p:txBody>
          <a:bodyPr wrap="square" lIns="0" tIns="0" rIns="0" bIns="0" rtlCol="0" anchor="ctr"/>
          <a:lstStyle/>
          <a:p>
            <a:pPr marL="0" indent="0" algn="ctr">
              <a:buNone/>
            </a:pPr>
            <a:r>
              <a:rPr lang="en-US" sz="800" dirty="0">
                <a:solidFill>
                  <a:srgbClr val="C8E6F5"/>
                </a:solidFill>
                <a:latin typeface="Calibri" pitchFamily="34" charset="0"/>
                <a:ea typeface="Calibri" pitchFamily="34" charset="-122"/>
                <a:cs typeface="Calibri" pitchFamily="34" charset="-120"/>
              </a:rPr>
              <a:t>:3003</a:t>
            </a:r>
            <a:endParaRPr lang="en-US" sz="800" dirty="0"/>
          </a:p>
        </p:txBody>
      </p:sp>
      <p:sp>
        <p:nvSpPr>
          <p:cNvPr id="31" name="Shape 29"/>
          <p:cNvSpPr/>
          <p:nvPr/>
        </p:nvSpPr>
        <p:spPr>
          <a:xfrm>
            <a:off x="5257800" y="2926080"/>
            <a:ext cx="1463040" cy="685800"/>
          </a:xfrm>
          <a:prstGeom prst="rect">
            <a:avLst/>
          </a:prstGeom>
          <a:solidFill>
            <a:srgbClr val="065F46"/>
          </a:solidFill>
          <a:ln w="10160">
            <a:solidFill>
              <a:srgbClr val="AACFE0"/>
            </a:solidFill>
            <a:prstDash val="solid"/>
          </a:ln>
        </p:spPr>
        <p:txBody>
          <a:bodyPr/>
          <a:lstStyle/>
          <a:p>
            <a:endParaRPr lang="en-US"/>
          </a:p>
        </p:txBody>
      </p:sp>
      <p:sp>
        <p:nvSpPr>
          <p:cNvPr id="32" name="Text 30"/>
          <p:cNvSpPr/>
          <p:nvPr/>
        </p:nvSpPr>
        <p:spPr>
          <a:xfrm>
            <a:off x="5303520" y="2971800"/>
            <a:ext cx="1371600" cy="37719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KYC Svc</a:t>
            </a:r>
            <a:endParaRPr lang="en-US" sz="1000" dirty="0"/>
          </a:p>
        </p:txBody>
      </p:sp>
      <p:sp>
        <p:nvSpPr>
          <p:cNvPr id="33" name="Text 31"/>
          <p:cNvSpPr/>
          <p:nvPr/>
        </p:nvSpPr>
        <p:spPr>
          <a:xfrm>
            <a:off x="5303520" y="3303270"/>
            <a:ext cx="1371600" cy="274320"/>
          </a:xfrm>
          <a:prstGeom prst="rect">
            <a:avLst/>
          </a:prstGeom>
          <a:noFill/>
          <a:ln/>
        </p:spPr>
        <p:txBody>
          <a:bodyPr wrap="square" lIns="0" tIns="0" rIns="0" bIns="0" rtlCol="0" anchor="ctr"/>
          <a:lstStyle/>
          <a:p>
            <a:pPr marL="0" indent="0" algn="ctr">
              <a:buNone/>
            </a:pPr>
            <a:r>
              <a:rPr lang="en-US" sz="800" dirty="0">
                <a:solidFill>
                  <a:srgbClr val="C8E6F5"/>
                </a:solidFill>
                <a:latin typeface="Calibri" pitchFamily="34" charset="0"/>
                <a:ea typeface="Calibri" pitchFamily="34" charset="-122"/>
                <a:cs typeface="Calibri" pitchFamily="34" charset="-120"/>
              </a:rPr>
              <a:t>:3004</a:t>
            </a:r>
            <a:endParaRPr lang="en-US" sz="800" dirty="0"/>
          </a:p>
        </p:txBody>
      </p:sp>
      <p:sp>
        <p:nvSpPr>
          <p:cNvPr id="34" name="Shape 32"/>
          <p:cNvSpPr/>
          <p:nvPr/>
        </p:nvSpPr>
        <p:spPr>
          <a:xfrm>
            <a:off x="6903720" y="2926080"/>
            <a:ext cx="1737360" cy="685800"/>
          </a:xfrm>
          <a:prstGeom prst="rect">
            <a:avLst/>
          </a:prstGeom>
          <a:solidFill>
            <a:srgbClr val="7C3AED"/>
          </a:solidFill>
          <a:ln w="10160">
            <a:solidFill>
              <a:srgbClr val="AACFE0"/>
            </a:solidFill>
            <a:prstDash val="solid"/>
          </a:ln>
        </p:spPr>
        <p:txBody>
          <a:bodyPr/>
          <a:lstStyle/>
          <a:p>
            <a:endParaRPr lang="en-US"/>
          </a:p>
        </p:txBody>
      </p:sp>
      <p:sp>
        <p:nvSpPr>
          <p:cNvPr id="35" name="Text 33"/>
          <p:cNvSpPr/>
          <p:nvPr/>
        </p:nvSpPr>
        <p:spPr>
          <a:xfrm>
            <a:off x="6949440" y="2971800"/>
            <a:ext cx="1645920" cy="37719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Reporting</a:t>
            </a:r>
            <a:endParaRPr lang="en-US" sz="1000" dirty="0"/>
          </a:p>
        </p:txBody>
      </p:sp>
      <p:sp>
        <p:nvSpPr>
          <p:cNvPr id="36" name="Text 34"/>
          <p:cNvSpPr/>
          <p:nvPr/>
        </p:nvSpPr>
        <p:spPr>
          <a:xfrm>
            <a:off x="6949440" y="3303270"/>
            <a:ext cx="1645920" cy="274320"/>
          </a:xfrm>
          <a:prstGeom prst="rect">
            <a:avLst/>
          </a:prstGeom>
          <a:noFill/>
          <a:ln/>
        </p:spPr>
        <p:txBody>
          <a:bodyPr wrap="square" lIns="0" tIns="0" rIns="0" bIns="0" rtlCol="0" anchor="ctr"/>
          <a:lstStyle/>
          <a:p>
            <a:pPr marL="0" indent="0" algn="ctr">
              <a:buNone/>
            </a:pPr>
            <a:r>
              <a:rPr lang="en-US" sz="800" dirty="0">
                <a:solidFill>
                  <a:srgbClr val="C8E6F5"/>
                </a:solidFill>
                <a:latin typeface="Calibri" pitchFamily="34" charset="0"/>
                <a:ea typeface="Calibri" pitchFamily="34" charset="-122"/>
                <a:cs typeface="Calibri" pitchFamily="34" charset="-120"/>
              </a:rPr>
              <a:t>:3005 (Python)</a:t>
            </a:r>
            <a:endParaRPr lang="en-US" sz="800" dirty="0"/>
          </a:p>
        </p:txBody>
      </p:sp>
      <p:sp>
        <p:nvSpPr>
          <p:cNvPr id="37" name="Shape 35"/>
          <p:cNvSpPr/>
          <p:nvPr/>
        </p:nvSpPr>
        <p:spPr>
          <a:xfrm>
            <a:off x="1051560" y="3611880"/>
            <a:ext cx="0" cy="365760"/>
          </a:xfrm>
          <a:prstGeom prst="line">
            <a:avLst/>
          </a:prstGeom>
          <a:noFill/>
          <a:ln w="19050">
            <a:solidFill>
              <a:srgbClr val="02C39A"/>
            </a:solidFill>
            <a:prstDash val="dash"/>
          </a:ln>
        </p:spPr>
        <p:txBody>
          <a:bodyPr/>
          <a:lstStyle/>
          <a:p>
            <a:endParaRPr lang="en-US"/>
          </a:p>
        </p:txBody>
      </p:sp>
      <p:sp>
        <p:nvSpPr>
          <p:cNvPr id="38" name="Shape 36"/>
          <p:cNvSpPr/>
          <p:nvPr/>
        </p:nvSpPr>
        <p:spPr>
          <a:xfrm>
            <a:off x="2697480" y="3611880"/>
            <a:ext cx="0" cy="365760"/>
          </a:xfrm>
          <a:prstGeom prst="line">
            <a:avLst/>
          </a:prstGeom>
          <a:noFill/>
          <a:ln w="19050">
            <a:solidFill>
              <a:srgbClr val="02C39A"/>
            </a:solidFill>
            <a:prstDash val="dash"/>
          </a:ln>
        </p:spPr>
        <p:txBody>
          <a:bodyPr/>
          <a:lstStyle/>
          <a:p>
            <a:endParaRPr lang="en-US"/>
          </a:p>
        </p:txBody>
      </p:sp>
      <p:sp>
        <p:nvSpPr>
          <p:cNvPr id="39" name="Shape 37"/>
          <p:cNvSpPr/>
          <p:nvPr/>
        </p:nvSpPr>
        <p:spPr>
          <a:xfrm>
            <a:off x="7772400" y="3611880"/>
            <a:ext cx="0" cy="365760"/>
          </a:xfrm>
          <a:prstGeom prst="line">
            <a:avLst/>
          </a:prstGeom>
          <a:noFill/>
          <a:ln w="19050">
            <a:solidFill>
              <a:srgbClr val="02C39A"/>
            </a:solidFill>
            <a:prstDash val="dash"/>
          </a:ln>
        </p:spPr>
        <p:txBody>
          <a:bodyPr/>
          <a:lstStyle/>
          <a:p>
            <a:endParaRPr lang="en-US"/>
          </a:p>
        </p:txBody>
      </p:sp>
      <p:sp>
        <p:nvSpPr>
          <p:cNvPr id="40" name="Shape 38"/>
          <p:cNvSpPr/>
          <p:nvPr/>
        </p:nvSpPr>
        <p:spPr>
          <a:xfrm>
            <a:off x="320040" y="3977640"/>
            <a:ext cx="1463040" cy="868680"/>
          </a:xfrm>
          <a:prstGeom prst="rect">
            <a:avLst/>
          </a:prstGeom>
          <a:solidFill>
            <a:srgbClr val="334155"/>
          </a:solidFill>
          <a:ln w="10160">
            <a:solidFill>
              <a:srgbClr val="AACFE0"/>
            </a:solidFill>
            <a:prstDash val="solid"/>
          </a:ln>
        </p:spPr>
        <p:txBody>
          <a:bodyPr/>
          <a:lstStyle/>
          <a:p>
            <a:endParaRPr lang="en-US"/>
          </a:p>
        </p:txBody>
      </p:sp>
      <p:sp>
        <p:nvSpPr>
          <p:cNvPr id="41" name="Text 39"/>
          <p:cNvSpPr/>
          <p:nvPr/>
        </p:nvSpPr>
        <p:spPr>
          <a:xfrm>
            <a:off x="365760" y="4023360"/>
            <a:ext cx="1371600" cy="47777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PostgreSQL</a:t>
            </a:r>
            <a:endParaRPr lang="en-US" sz="1000" dirty="0"/>
          </a:p>
        </p:txBody>
      </p:sp>
      <p:sp>
        <p:nvSpPr>
          <p:cNvPr id="42" name="Text 40"/>
          <p:cNvSpPr/>
          <p:nvPr/>
        </p:nvSpPr>
        <p:spPr>
          <a:xfrm>
            <a:off x="365760" y="4455414"/>
            <a:ext cx="1371600" cy="347472"/>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(keycloak) :5432</a:t>
            </a:r>
            <a:endParaRPr lang="en-US" sz="800" dirty="0"/>
          </a:p>
        </p:txBody>
      </p:sp>
      <p:sp>
        <p:nvSpPr>
          <p:cNvPr id="43" name="Shape 41"/>
          <p:cNvSpPr/>
          <p:nvPr/>
        </p:nvSpPr>
        <p:spPr>
          <a:xfrm>
            <a:off x="1965960" y="3977640"/>
            <a:ext cx="1463040" cy="868680"/>
          </a:xfrm>
          <a:prstGeom prst="rect">
            <a:avLst/>
          </a:prstGeom>
          <a:solidFill>
            <a:srgbClr val="334155"/>
          </a:solidFill>
          <a:ln w="10160">
            <a:solidFill>
              <a:srgbClr val="AACFE0"/>
            </a:solidFill>
            <a:prstDash val="solid"/>
          </a:ln>
        </p:spPr>
        <p:txBody>
          <a:bodyPr/>
          <a:lstStyle/>
          <a:p>
            <a:endParaRPr lang="en-US"/>
          </a:p>
        </p:txBody>
      </p:sp>
      <p:sp>
        <p:nvSpPr>
          <p:cNvPr id="44" name="Text 42"/>
          <p:cNvSpPr/>
          <p:nvPr/>
        </p:nvSpPr>
        <p:spPr>
          <a:xfrm>
            <a:off x="2011680" y="4023360"/>
            <a:ext cx="1371600" cy="47777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MySQL</a:t>
            </a:r>
            <a:endParaRPr lang="en-US" sz="1000" dirty="0"/>
          </a:p>
        </p:txBody>
      </p:sp>
      <p:sp>
        <p:nvSpPr>
          <p:cNvPr id="45" name="Text 43"/>
          <p:cNvSpPr/>
          <p:nvPr/>
        </p:nvSpPr>
        <p:spPr>
          <a:xfrm>
            <a:off x="2011680" y="4455414"/>
            <a:ext cx="1371600" cy="347472"/>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(fineract) :3306</a:t>
            </a:r>
            <a:endParaRPr lang="en-US" sz="800" dirty="0"/>
          </a:p>
        </p:txBody>
      </p:sp>
      <p:sp>
        <p:nvSpPr>
          <p:cNvPr id="46" name="Shape 44"/>
          <p:cNvSpPr/>
          <p:nvPr/>
        </p:nvSpPr>
        <p:spPr>
          <a:xfrm>
            <a:off x="6903720" y="3977640"/>
            <a:ext cx="1737360" cy="868680"/>
          </a:xfrm>
          <a:prstGeom prst="rect">
            <a:avLst/>
          </a:prstGeom>
          <a:solidFill>
            <a:srgbClr val="334155"/>
          </a:solidFill>
          <a:ln w="10160">
            <a:solidFill>
              <a:srgbClr val="AACFE0"/>
            </a:solidFill>
            <a:prstDash val="solid"/>
          </a:ln>
        </p:spPr>
        <p:txBody>
          <a:bodyPr/>
          <a:lstStyle/>
          <a:p>
            <a:endParaRPr lang="en-US"/>
          </a:p>
        </p:txBody>
      </p:sp>
      <p:sp>
        <p:nvSpPr>
          <p:cNvPr id="47" name="Text 45"/>
          <p:cNvSpPr/>
          <p:nvPr/>
        </p:nvSpPr>
        <p:spPr>
          <a:xfrm>
            <a:off x="6949440" y="4023360"/>
            <a:ext cx="1645920" cy="47777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PostgreSQL</a:t>
            </a:r>
            <a:endParaRPr lang="en-US" sz="1000" dirty="0"/>
          </a:p>
        </p:txBody>
      </p:sp>
      <p:sp>
        <p:nvSpPr>
          <p:cNvPr id="48" name="Text 46"/>
          <p:cNvSpPr/>
          <p:nvPr/>
        </p:nvSpPr>
        <p:spPr>
          <a:xfrm>
            <a:off x="6949440" y="4455414"/>
            <a:ext cx="1645920" cy="347472"/>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(fineract_default) :5432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7FB"/>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48640"/>
          </a:xfrm>
          <a:prstGeom prst="rect">
            <a:avLst/>
          </a:prstGeom>
          <a:noFill/>
          <a:ln/>
        </p:spPr>
        <p:txBody>
          <a:bodyPr wrap="square" lIns="0" tIns="0" rIns="0" bIns="0" rtlCol="0" anchor="ctr"/>
          <a:lstStyle/>
          <a:p>
            <a:pPr marL="0" indent="0">
              <a:buNone/>
            </a:pPr>
            <a:r>
              <a:rPr lang="en-US" sz="2600" b="1" dirty="0">
                <a:solidFill>
                  <a:srgbClr val="065A82"/>
                </a:solidFill>
                <a:latin typeface="Georgia" pitchFamily="34" charset="0"/>
                <a:ea typeface="Georgia" pitchFamily="34" charset="-122"/>
                <a:cs typeface="Georgia" pitchFamily="34" charset="-120"/>
              </a:rPr>
              <a:t>7 Services at a Glance</a:t>
            </a:r>
            <a:endParaRPr lang="en-US" sz="2600" dirty="0"/>
          </a:p>
        </p:txBody>
      </p:sp>
      <p:sp>
        <p:nvSpPr>
          <p:cNvPr id="3" name="Shape 1"/>
          <p:cNvSpPr/>
          <p:nvPr/>
        </p:nvSpPr>
        <p:spPr>
          <a:xfrm>
            <a:off x="365760" y="749808"/>
            <a:ext cx="1097280" cy="45720"/>
          </a:xfrm>
          <a:prstGeom prst="rect">
            <a:avLst/>
          </a:prstGeom>
          <a:solidFill>
            <a:srgbClr val="02C39A"/>
          </a:solidFill>
          <a:ln w="12700">
            <a:solidFill>
              <a:srgbClr val="02C39A"/>
            </a:solidFill>
            <a:prstDash val="solid"/>
          </a:ln>
        </p:spPr>
        <p:txBody>
          <a:bodyPr/>
          <a:lstStyle/>
          <a:p>
            <a:endParaRPr lang="en-US"/>
          </a:p>
        </p:txBody>
      </p:sp>
      <p:sp>
        <p:nvSpPr>
          <p:cNvPr id="4" name="Shape 2"/>
          <p:cNvSpPr/>
          <p:nvPr/>
        </p:nvSpPr>
        <p:spPr>
          <a:xfrm>
            <a:off x="384048" y="960120"/>
            <a:ext cx="1920240" cy="1719072"/>
          </a:xfrm>
          <a:prstGeom prst="rect">
            <a:avLst/>
          </a:prstGeom>
          <a:solidFill>
            <a:srgbClr val="FFFFFF"/>
          </a:solidFill>
          <a:ln w="6350">
            <a:solidFill>
              <a:srgbClr val="E2E8F0"/>
            </a:solidFill>
            <a:prstDash val="solid"/>
          </a:ln>
        </p:spPr>
        <p:txBody>
          <a:bodyPr/>
          <a:lstStyle/>
          <a:p>
            <a:endParaRPr lang="en-US"/>
          </a:p>
        </p:txBody>
      </p:sp>
      <p:sp>
        <p:nvSpPr>
          <p:cNvPr id="5" name="Shape 3"/>
          <p:cNvSpPr/>
          <p:nvPr/>
        </p:nvSpPr>
        <p:spPr>
          <a:xfrm>
            <a:off x="384048" y="960120"/>
            <a:ext cx="1920240" cy="365760"/>
          </a:xfrm>
          <a:prstGeom prst="rect">
            <a:avLst/>
          </a:prstGeom>
          <a:solidFill>
            <a:srgbClr val="1C7293"/>
          </a:solidFill>
          <a:ln w="12700">
            <a:solidFill>
              <a:srgbClr val="1C7293"/>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475488" y="1014984"/>
            <a:ext cx="246888" cy="246888"/>
          </a:xfrm>
          <a:prstGeom prst="rect">
            <a:avLst/>
          </a:prstGeom>
        </p:spPr>
      </p:pic>
      <p:sp>
        <p:nvSpPr>
          <p:cNvPr id="7" name="Text 4"/>
          <p:cNvSpPr/>
          <p:nvPr/>
        </p:nvSpPr>
        <p:spPr>
          <a:xfrm>
            <a:off x="768096" y="1024128"/>
            <a:ext cx="146304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Web Portal</a:t>
            </a:r>
            <a:endParaRPr lang="en-US" sz="1100" dirty="0"/>
          </a:p>
        </p:txBody>
      </p:sp>
      <p:sp>
        <p:nvSpPr>
          <p:cNvPr id="8" name="Text 5"/>
          <p:cNvSpPr/>
          <p:nvPr/>
        </p:nvSpPr>
        <p:spPr>
          <a:xfrm>
            <a:off x="493776" y="1389888"/>
            <a:ext cx="1737360" cy="1170432"/>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Next.js 14 + React Query</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:3000 — Staff dashboard</a:t>
            </a:r>
            <a:endParaRPr lang="en-US" sz="1000" dirty="0"/>
          </a:p>
        </p:txBody>
      </p:sp>
      <p:sp>
        <p:nvSpPr>
          <p:cNvPr id="9" name="Shape 6"/>
          <p:cNvSpPr/>
          <p:nvPr/>
        </p:nvSpPr>
        <p:spPr>
          <a:xfrm>
            <a:off x="2423160" y="960120"/>
            <a:ext cx="1920240" cy="1719072"/>
          </a:xfrm>
          <a:prstGeom prst="rect">
            <a:avLst/>
          </a:prstGeom>
          <a:solidFill>
            <a:srgbClr val="FFFFFF"/>
          </a:solidFill>
          <a:ln w="6350">
            <a:solidFill>
              <a:srgbClr val="E2E8F0"/>
            </a:solidFill>
            <a:prstDash val="solid"/>
          </a:ln>
        </p:spPr>
        <p:txBody>
          <a:bodyPr/>
          <a:lstStyle/>
          <a:p>
            <a:endParaRPr lang="en-US"/>
          </a:p>
        </p:txBody>
      </p:sp>
      <p:sp>
        <p:nvSpPr>
          <p:cNvPr id="10" name="Shape 7"/>
          <p:cNvSpPr/>
          <p:nvPr/>
        </p:nvSpPr>
        <p:spPr>
          <a:xfrm>
            <a:off x="2423160" y="960120"/>
            <a:ext cx="1920240" cy="365760"/>
          </a:xfrm>
          <a:prstGeom prst="rect">
            <a:avLst/>
          </a:prstGeom>
          <a:solidFill>
            <a:srgbClr val="0E7490"/>
          </a:solidFill>
          <a:ln w="12700">
            <a:solidFill>
              <a:srgbClr val="0E7490"/>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2514600" y="1014984"/>
            <a:ext cx="246888" cy="246888"/>
          </a:xfrm>
          <a:prstGeom prst="rect">
            <a:avLst/>
          </a:prstGeom>
        </p:spPr>
      </p:pic>
      <p:sp>
        <p:nvSpPr>
          <p:cNvPr id="12" name="Text 8"/>
          <p:cNvSpPr/>
          <p:nvPr/>
        </p:nvSpPr>
        <p:spPr>
          <a:xfrm>
            <a:off x="2807208" y="1024128"/>
            <a:ext cx="146304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Mobile App</a:t>
            </a:r>
            <a:endParaRPr lang="en-US" sz="1100" dirty="0"/>
          </a:p>
        </p:txBody>
      </p:sp>
      <p:sp>
        <p:nvSpPr>
          <p:cNvPr id="13" name="Text 9"/>
          <p:cNvSpPr/>
          <p:nvPr/>
        </p:nvSpPr>
        <p:spPr>
          <a:xfrm>
            <a:off x="2532888" y="1389888"/>
            <a:ext cx="1737360" cy="1170432"/>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Expo React Native</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iOS/Android — Field officers</a:t>
            </a:r>
            <a:endParaRPr lang="en-US" sz="1000" dirty="0"/>
          </a:p>
        </p:txBody>
      </p:sp>
      <p:sp>
        <p:nvSpPr>
          <p:cNvPr id="14" name="Shape 10"/>
          <p:cNvSpPr/>
          <p:nvPr/>
        </p:nvSpPr>
        <p:spPr>
          <a:xfrm>
            <a:off x="4462272" y="960120"/>
            <a:ext cx="1920240" cy="1719072"/>
          </a:xfrm>
          <a:prstGeom prst="rect">
            <a:avLst/>
          </a:prstGeom>
          <a:solidFill>
            <a:srgbClr val="FFFFFF"/>
          </a:solidFill>
          <a:ln w="6350">
            <a:solidFill>
              <a:srgbClr val="E2E8F0"/>
            </a:solidFill>
            <a:prstDash val="solid"/>
          </a:ln>
        </p:spPr>
        <p:txBody>
          <a:bodyPr/>
          <a:lstStyle/>
          <a:p>
            <a:endParaRPr lang="en-US"/>
          </a:p>
        </p:txBody>
      </p:sp>
      <p:sp>
        <p:nvSpPr>
          <p:cNvPr id="15" name="Shape 11"/>
          <p:cNvSpPr/>
          <p:nvPr/>
        </p:nvSpPr>
        <p:spPr>
          <a:xfrm>
            <a:off x="4462272" y="960120"/>
            <a:ext cx="1920240" cy="365760"/>
          </a:xfrm>
          <a:prstGeom prst="rect">
            <a:avLst/>
          </a:prstGeom>
          <a:solidFill>
            <a:srgbClr val="065A82"/>
          </a:solidFill>
          <a:ln w="12700">
            <a:solidFill>
              <a:srgbClr val="065A82"/>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4553712" y="1014984"/>
            <a:ext cx="246888" cy="246888"/>
          </a:xfrm>
          <a:prstGeom prst="rect">
            <a:avLst/>
          </a:prstGeom>
        </p:spPr>
      </p:pic>
      <p:sp>
        <p:nvSpPr>
          <p:cNvPr id="17" name="Text 12"/>
          <p:cNvSpPr/>
          <p:nvPr/>
        </p:nvSpPr>
        <p:spPr>
          <a:xfrm>
            <a:off x="4846320" y="1024128"/>
            <a:ext cx="146304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API Gateway</a:t>
            </a:r>
            <a:endParaRPr lang="en-US" sz="1100" dirty="0"/>
          </a:p>
        </p:txBody>
      </p:sp>
      <p:sp>
        <p:nvSpPr>
          <p:cNvPr id="18" name="Text 13"/>
          <p:cNvSpPr/>
          <p:nvPr/>
        </p:nvSpPr>
        <p:spPr>
          <a:xfrm>
            <a:off x="4572000" y="1389888"/>
            <a:ext cx="1737360" cy="1170432"/>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Fastify + TypeScript</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:3001 — Auth, RBAC, routing</a:t>
            </a:r>
            <a:endParaRPr lang="en-US" sz="1000" dirty="0"/>
          </a:p>
        </p:txBody>
      </p:sp>
      <p:sp>
        <p:nvSpPr>
          <p:cNvPr id="19" name="Shape 14"/>
          <p:cNvSpPr/>
          <p:nvPr/>
        </p:nvSpPr>
        <p:spPr>
          <a:xfrm>
            <a:off x="6501384" y="960120"/>
            <a:ext cx="1920240" cy="1719072"/>
          </a:xfrm>
          <a:prstGeom prst="rect">
            <a:avLst/>
          </a:prstGeom>
          <a:solidFill>
            <a:srgbClr val="FFFFFF"/>
          </a:solidFill>
          <a:ln w="6350">
            <a:solidFill>
              <a:srgbClr val="E2E8F0"/>
            </a:solidFill>
            <a:prstDash val="solid"/>
          </a:ln>
        </p:spPr>
        <p:txBody>
          <a:bodyPr/>
          <a:lstStyle/>
          <a:p>
            <a:endParaRPr lang="en-US"/>
          </a:p>
        </p:txBody>
      </p:sp>
      <p:sp>
        <p:nvSpPr>
          <p:cNvPr id="20" name="Shape 15"/>
          <p:cNvSpPr/>
          <p:nvPr/>
        </p:nvSpPr>
        <p:spPr>
          <a:xfrm>
            <a:off x="6501384" y="960120"/>
            <a:ext cx="1920240" cy="365760"/>
          </a:xfrm>
          <a:prstGeom prst="rect">
            <a:avLst/>
          </a:prstGeom>
          <a:solidFill>
            <a:srgbClr val="0E6655"/>
          </a:solidFill>
          <a:ln w="12700">
            <a:solidFill>
              <a:srgbClr val="0E6655"/>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6592824" y="1014984"/>
            <a:ext cx="246888" cy="246888"/>
          </a:xfrm>
          <a:prstGeom prst="rect">
            <a:avLst/>
          </a:prstGeom>
        </p:spPr>
      </p:pic>
      <p:sp>
        <p:nvSpPr>
          <p:cNvPr id="22" name="Text 16"/>
          <p:cNvSpPr/>
          <p:nvPr/>
        </p:nvSpPr>
        <p:spPr>
          <a:xfrm>
            <a:off x="6885432" y="1024128"/>
            <a:ext cx="146304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Mobile Money</a:t>
            </a:r>
            <a:endParaRPr lang="en-US" sz="1100" dirty="0"/>
          </a:p>
        </p:txBody>
      </p:sp>
      <p:sp>
        <p:nvSpPr>
          <p:cNvPr id="23" name="Text 17"/>
          <p:cNvSpPr/>
          <p:nvPr/>
        </p:nvSpPr>
        <p:spPr>
          <a:xfrm>
            <a:off x="6611112" y="1389888"/>
            <a:ext cx="1737360" cy="1170432"/>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KBZ Pay integration</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:3003 — HMAC-signed payments</a:t>
            </a:r>
            <a:endParaRPr lang="en-US" sz="1000" dirty="0"/>
          </a:p>
        </p:txBody>
      </p:sp>
      <p:sp>
        <p:nvSpPr>
          <p:cNvPr id="24" name="Shape 18"/>
          <p:cNvSpPr/>
          <p:nvPr/>
        </p:nvSpPr>
        <p:spPr>
          <a:xfrm>
            <a:off x="384048" y="2862072"/>
            <a:ext cx="1920240" cy="1719072"/>
          </a:xfrm>
          <a:prstGeom prst="rect">
            <a:avLst/>
          </a:prstGeom>
          <a:solidFill>
            <a:srgbClr val="FFFFFF"/>
          </a:solidFill>
          <a:ln w="6350">
            <a:solidFill>
              <a:srgbClr val="E2E8F0"/>
            </a:solidFill>
            <a:prstDash val="solid"/>
          </a:ln>
        </p:spPr>
        <p:txBody>
          <a:bodyPr/>
          <a:lstStyle/>
          <a:p>
            <a:endParaRPr lang="en-US"/>
          </a:p>
        </p:txBody>
      </p:sp>
      <p:sp>
        <p:nvSpPr>
          <p:cNvPr id="25" name="Shape 19"/>
          <p:cNvSpPr/>
          <p:nvPr/>
        </p:nvSpPr>
        <p:spPr>
          <a:xfrm>
            <a:off x="384048" y="2862072"/>
            <a:ext cx="1920240" cy="365760"/>
          </a:xfrm>
          <a:prstGeom prst="rect">
            <a:avLst/>
          </a:prstGeom>
          <a:solidFill>
            <a:srgbClr val="065F46"/>
          </a:solidFill>
          <a:ln w="12700">
            <a:solidFill>
              <a:srgbClr val="065F46"/>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475488" y="2916936"/>
            <a:ext cx="246888" cy="246888"/>
          </a:xfrm>
          <a:prstGeom prst="rect">
            <a:avLst/>
          </a:prstGeom>
        </p:spPr>
      </p:pic>
      <p:sp>
        <p:nvSpPr>
          <p:cNvPr id="27" name="Text 20"/>
          <p:cNvSpPr/>
          <p:nvPr/>
        </p:nvSpPr>
        <p:spPr>
          <a:xfrm>
            <a:off x="768096" y="2926080"/>
            <a:ext cx="146304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KYC Service</a:t>
            </a:r>
            <a:endParaRPr lang="en-US" sz="1100" dirty="0"/>
          </a:p>
        </p:txBody>
      </p:sp>
      <p:sp>
        <p:nvSpPr>
          <p:cNvPr id="28" name="Text 21"/>
          <p:cNvSpPr/>
          <p:nvPr/>
        </p:nvSpPr>
        <p:spPr>
          <a:xfrm>
            <a:off x="493776" y="3291840"/>
            <a:ext cx="1737360" cy="1170432"/>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Pluggable providers</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:3004 — Stub / Smile / Onfido</a:t>
            </a:r>
            <a:endParaRPr lang="en-US" sz="1000" dirty="0"/>
          </a:p>
        </p:txBody>
      </p:sp>
      <p:sp>
        <p:nvSpPr>
          <p:cNvPr id="29" name="Shape 22"/>
          <p:cNvSpPr/>
          <p:nvPr/>
        </p:nvSpPr>
        <p:spPr>
          <a:xfrm>
            <a:off x="2423160" y="2862072"/>
            <a:ext cx="1920240" cy="1719072"/>
          </a:xfrm>
          <a:prstGeom prst="rect">
            <a:avLst/>
          </a:prstGeom>
          <a:solidFill>
            <a:srgbClr val="FFFFFF"/>
          </a:solidFill>
          <a:ln w="6350">
            <a:solidFill>
              <a:srgbClr val="E2E8F0"/>
            </a:solidFill>
            <a:prstDash val="solid"/>
          </a:ln>
        </p:spPr>
        <p:txBody>
          <a:bodyPr/>
          <a:lstStyle/>
          <a:p>
            <a:endParaRPr lang="en-US"/>
          </a:p>
        </p:txBody>
      </p:sp>
      <p:sp>
        <p:nvSpPr>
          <p:cNvPr id="30" name="Shape 23"/>
          <p:cNvSpPr/>
          <p:nvPr/>
        </p:nvSpPr>
        <p:spPr>
          <a:xfrm>
            <a:off x="2423160" y="2862072"/>
            <a:ext cx="1920240" cy="365760"/>
          </a:xfrm>
          <a:prstGeom prst="rect">
            <a:avLst/>
          </a:prstGeom>
          <a:solidFill>
            <a:srgbClr val="7C3AED"/>
          </a:solidFill>
          <a:ln w="12700">
            <a:solidFill>
              <a:srgbClr val="7C3AED"/>
            </a:solidFill>
            <a:prstDash val="solid"/>
          </a:ln>
        </p:spPr>
        <p:txBody>
          <a:bodyPr/>
          <a:lstStyle/>
          <a:p>
            <a:endParaRPr lang="en-US"/>
          </a:p>
        </p:txBody>
      </p:sp>
      <p:pic>
        <p:nvPicPr>
          <p:cNvPr id="31" name="Image 5" descr="preencoded.png"/>
          <p:cNvPicPr>
            <a:picLocks noChangeAspect="1"/>
          </p:cNvPicPr>
          <p:nvPr/>
        </p:nvPicPr>
        <p:blipFill>
          <a:blip r:embed="rId8"/>
          <a:stretch>
            <a:fillRect/>
          </a:stretch>
        </p:blipFill>
        <p:spPr>
          <a:xfrm>
            <a:off x="2514600" y="2916936"/>
            <a:ext cx="246888" cy="246888"/>
          </a:xfrm>
          <a:prstGeom prst="rect">
            <a:avLst/>
          </a:prstGeom>
        </p:spPr>
      </p:pic>
      <p:sp>
        <p:nvSpPr>
          <p:cNvPr id="32" name="Text 24"/>
          <p:cNvSpPr/>
          <p:nvPr/>
        </p:nvSpPr>
        <p:spPr>
          <a:xfrm>
            <a:off x="2807208" y="2926080"/>
            <a:ext cx="146304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Reporting</a:t>
            </a:r>
            <a:endParaRPr lang="en-US" sz="1100" dirty="0"/>
          </a:p>
        </p:txBody>
      </p:sp>
      <p:sp>
        <p:nvSpPr>
          <p:cNvPr id="33" name="Text 25"/>
          <p:cNvSpPr/>
          <p:nvPr/>
        </p:nvSpPr>
        <p:spPr>
          <a:xfrm>
            <a:off x="2532888" y="3291840"/>
            <a:ext cx="1737360" cy="1170432"/>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Python FastAPI + SQL</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:3005 — PAR, collections, stats</a:t>
            </a:r>
            <a:endParaRPr lang="en-US" sz="1000" dirty="0"/>
          </a:p>
        </p:txBody>
      </p:sp>
      <p:sp>
        <p:nvSpPr>
          <p:cNvPr id="34" name="Shape 26"/>
          <p:cNvSpPr/>
          <p:nvPr/>
        </p:nvSpPr>
        <p:spPr>
          <a:xfrm>
            <a:off x="4462272" y="2862072"/>
            <a:ext cx="1920240" cy="1719072"/>
          </a:xfrm>
          <a:prstGeom prst="rect">
            <a:avLst/>
          </a:prstGeom>
          <a:solidFill>
            <a:srgbClr val="FFFFFF"/>
          </a:solidFill>
          <a:ln w="6350">
            <a:solidFill>
              <a:srgbClr val="E2E8F0"/>
            </a:solidFill>
            <a:prstDash val="solid"/>
          </a:ln>
        </p:spPr>
        <p:txBody>
          <a:bodyPr/>
          <a:lstStyle/>
          <a:p>
            <a:endParaRPr lang="en-US"/>
          </a:p>
        </p:txBody>
      </p:sp>
      <p:sp>
        <p:nvSpPr>
          <p:cNvPr id="35" name="Shape 27"/>
          <p:cNvSpPr/>
          <p:nvPr/>
        </p:nvSpPr>
        <p:spPr>
          <a:xfrm>
            <a:off x="4462272" y="2862072"/>
            <a:ext cx="1920240" cy="365760"/>
          </a:xfrm>
          <a:prstGeom prst="rect">
            <a:avLst/>
          </a:prstGeom>
          <a:solidFill>
            <a:srgbClr val="1E5F74"/>
          </a:solidFill>
          <a:ln w="12700">
            <a:solidFill>
              <a:srgbClr val="1E5F74"/>
            </a:solidFill>
            <a:prstDash val="solid"/>
          </a:ln>
        </p:spPr>
        <p:txBody>
          <a:bodyPr/>
          <a:lstStyle/>
          <a:p>
            <a:endParaRPr lang="en-US"/>
          </a:p>
        </p:txBody>
      </p:sp>
      <p:pic>
        <p:nvPicPr>
          <p:cNvPr id="36" name="Image 6" descr="preencoded.png"/>
          <p:cNvPicPr>
            <a:picLocks noChangeAspect="1"/>
          </p:cNvPicPr>
          <p:nvPr/>
        </p:nvPicPr>
        <p:blipFill>
          <a:blip r:embed="rId9"/>
          <a:stretch>
            <a:fillRect/>
          </a:stretch>
        </p:blipFill>
        <p:spPr>
          <a:xfrm>
            <a:off x="4553712" y="2916936"/>
            <a:ext cx="246888" cy="246888"/>
          </a:xfrm>
          <a:prstGeom prst="rect">
            <a:avLst/>
          </a:prstGeom>
        </p:spPr>
      </p:pic>
      <p:sp>
        <p:nvSpPr>
          <p:cNvPr id="37" name="Text 28"/>
          <p:cNvSpPr/>
          <p:nvPr/>
        </p:nvSpPr>
        <p:spPr>
          <a:xfrm>
            <a:off x="4846320" y="2926080"/>
            <a:ext cx="146304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Keycloak</a:t>
            </a:r>
            <a:endParaRPr lang="en-US" sz="1100" dirty="0"/>
          </a:p>
        </p:txBody>
      </p:sp>
      <p:sp>
        <p:nvSpPr>
          <p:cNvPr id="38" name="Text 29"/>
          <p:cNvSpPr/>
          <p:nvPr/>
        </p:nvSpPr>
        <p:spPr>
          <a:xfrm>
            <a:off x="4572000" y="3291840"/>
            <a:ext cx="1737360" cy="1170432"/>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OIDC / JWT RS256</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:8180 — Identity provider</a:t>
            </a:r>
            <a:endParaRPr lang="en-US" sz="1000" dirty="0"/>
          </a:p>
        </p:txBody>
      </p:sp>
      <p:sp>
        <p:nvSpPr>
          <p:cNvPr id="39" name="Shape 30"/>
          <p:cNvSpPr/>
          <p:nvPr/>
        </p:nvSpPr>
        <p:spPr>
          <a:xfrm>
            <a:off x="6501384" y="2862072"/>
            <a:ext cx="1920240" cy="1719072"/>
          </a:xfrm>
          <a:prstGeom prst="rect">
            <a:avLst/>
          </a:prstGeom>
          <a:solidFill>
            <a:srgbClr val="FFFFFF"/>
          </a:solidFill>
          <a:ln w="6350">
            <a:solidFill>
              <a:srgbClr val="E2E8F0"/>
            </a:solidFill>
            <a:prstDash val="solid"/>
          </a:ln>
        </p:spPr>
        <p:txBody>
          <a:bodyPr/>
          <a:lstStyle/>
          <a:p>
            <a:endParaRPr lang="en-US"/>
          </a:p>
        </p:txBody>
      </p:sp>
      <p:sp>
        <p:nvSpPr>
          <p:cNvPr id="40" name="Shape 31"/>
          <p:cNvSpPr/>
          <p:nvPr/>
        </p:nvSpPr>
        <p:spPr>
          <a:xfrm>
            <a:off x="6501384" y="2862072"/>
            <a:ext cx="1920240" cy="365760"/>
          </a:xfrm>
          <a:prstGeom prst="rect">
            <a:avLst/>
          </a:prstGeom>
          <a:solidFill>
            <a:srgbClr val="334155"/>
          </a:solidFill>
          <a:ln w="12700">
            <a:solidFill>
              <a:srgbClr val="334155"/>
            </a:solidFill>
            <a:prstDash val="solid"/>
          </a:ln>
        </p:spPr>
        <p:txBody>
          <a:bodyPr/>
          <a:lstStyle/>
          <a:p>
            <a:endParaRPr lang="en-US"/>
          </a:p>
        </p:txBody>
      </p:sp>
      <p:pic>
        <p:nvPicPr>
          <p:cNvPr id="41" name="Image 7" descr="preencoded.png"/>
          <p:cNvPicPr>
            <a:picLocks noChangeAspect="1"/>
          </p:cNvPicPr>
          <p:nvPr/>
        </p:nvPicPr>
        <p:blipFill>
          <a:blip r:embed="rId10"/>
          <a:stretch>
            <a:fillRect/>
          </a:stretch>
        </p:blipFill>
        <p:spPr>
          <a:xfrm>
            <a:off x="6592824" y="2916936"/>
            <a:ext cx="246888" cy="246888"/>
          </a:xfrm>
          <a:prstGeom prst="rect">
            <a:avLst/>
          </a:prstGeom>
        </p:spPr>
      </p:pic>
      <p:sp>
        <p:nvSpPr>
          <p:cNvPr id="42" name="Text 32"/>
          <p:cNvSpPr/>
          <p:nvPr/>
        </p:nvSpPr>
        <p:spPr>
          <a:xfrm>
            <a:off x="6885432" y="2926080"/>
            <a:ext cx="146304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Apache Fineract</a:t>
            </a:r>
            <a:endParaRPr lang="en-US" sz="1100" dirty="0"/>
          </a:p>
        </p:txBody>
      </p:sp>
      <p:sp>
        <p:nvSpPr>
          <p:cNvPr id="43" name="Text 33"/>
          <p:cNvSpPr/>
          <p:nvPr/>
        </p:nvSpPr>
        <p:spPr>
          <a:xfrm>
            <a:off x="6611112" y="3291840"/>
            <a:ext cx="1737360" cy="1170432"/>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Core banking engine</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:8080 — Java / Docker only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7FB"/>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48640"/>
          </a:xfrm>
          <a:prstGeom prst="rect">
            <a:avLst/>
          </a:prstGeom>
          <a:noFill/>
          <a:ln/>
        </p:spPr>
        <p:txBody>
          <a:bodyPr wrap="square" lIns="0" tIns="0" rIns="0" bIns="0" rtlCol="0" anchor="ctr"/>
          <a:lstStyle/>
          <a:p>
            <a:pPr marL="0" indent="0">
              <a:buNone/>
            </a:pPr>
            <a:r>
              <a:rPr lang="en-US" sz="2600" b="1" dirty="0">
                <a:solidFill>
                  <a:srgbClr val="065A82"/>
                </a:solidFill>
                <a:latin typeface="Georgia" pitchFamily="34" charset="0"/>
                <a:ea typeface="Georgia" pitchFamily="34" charset="-122"/>
                <a:cs typeface="Georgia" pitchFamily="34" charset="-120"/>
              </a:rPr>
              <a:t>Domain Knowledge: Microfinance 101</a:t>
            </a:r>
            <a:endParaRPr lang="en-US" sz="2600" dirty="0"/>
          </a:p>
        </p:txBody>
      </p:sp>
      <p:sp>
        <p:nvSpPr>
          <p:cNvPr id="3" name="Shape 1"/>
          <p:cNvSpPr/>
          <p:nvPr/>
        </p:nvSpPr>
        <p:spPr>
          <a:xfrm>
            <a:off x="365760" y="749808"/>
            <a:ext cx="1097280" cy="45720"/>
          </a:xfrm>
          <a:prstGeom prst="rect">
            <a:avLst/>
          </a:prstGeom>
          <a:solidFill>
            <a:srgbClr val="02C39A"/>
          </a:solidFill>
          <a:ln w="12700">
            <a:solidFill>
              <a:srgbClr val="02C39A"/>
            </a:solidFill>
            <a:prstDash val="solid"/>
          </a:ln>
        </p:spPr>
        <p:txBody>
          <a:bodyPr/>
          <a:lstStyle/>
          <a:p>
            <a:endParaRPr lang="en-US"/>
          </a:p>
        </p:txBody>
      </p:sp>
      <p:sp>
        <p:nvSpPr>
          <p:cNvPr id="4" name="Shape 2"/>
          <p:cNvSpPr/>
          <p:nvPr/>
        </p:nvSpPr>
        <p:spPr>
          <a:xfrm>
            <a:off x="320040" y="960120"/>
            <a:ext cx="2743200" cy="3931920"/>
          </a:xfrm>
          <a:prstGeom prst="rect">
            <a:avLst/>
          </a:prstGeom>
          <a:solidFill>
            <a:srgbClr val="FFFFFF"/>
          </a:solidFill>
          <a:ln w="6350">
            <a:solidFill>
              <a:srgbClr val="E2E8F0"/>
            </a:solidFill>
            <a:prstDash val="solid"/>
          </a:ln>
          <a:effectLst>
            <a:outerShdw blurRad="76200" dist="25400" dir="8100000" algn="bl" rotWithShape="0">
              <a:srgbClr val="000000">
                <a:alpha val="8000"/>
              </a:srgbClr>
            </a:outerShdw>
          </a:effectLst>
        </p:spPr>
        <p:txBody>
          <a:bodyPr/>
          <a:lstStyle/>
          <a:p>
            <a:endParaRPr lang="en-US"/>
          </a:p>
        </p:txBody>
      </p:sp>
      <p:sp>
        <p:nvSpPr>
          <p:cNvPr id="5" name="Shape 3"/>
          <p:cNvSpPr/>
          <p:nvPr/>
        </p:nvSpPr>
        <p:spPr>
          <a:xfrm>
            <a:off x="320040" y="960120"/>
            <a:ext cx="64008" cy="3931920"/>
          </a:xfrm>
          <a:prstGeom prst="rect">
            <a:avLst/>
          </a:prstGeom>
          <a:solidFill>
            <a:srgbClr val="065A82"/>
          </a:solidFill>
          <a:ln w="12700">
            <a:solidFill>
              <a:srgbClr val="065A82"/>
            </a:solidFill>
            <a:prstDash val="solid"/>
          </a:ln>
        </p:spPr>
        <p:txBody>
          <a:bodyPr/>
          <a:lstStyle/>
          <a:p>
            <a:endParaRPr lang="en-US"/>
          </a:p>
        </p:txBody>
      </p:sp>
      <p:sp>
        <p:nvSpPr>
          <p:cNvPr id="6" name="Shape 4"/>
          <p:cNvSpPr/>
          <p:nvPr/>
        </p:nvSpPr>
        <p:spPr>
          <a:xfrm>
            <a:off x="320040" y="960120"/>
            <a:ext cx="2743200" cy="438912"/>
          </a:xfrm>
          <a:prstGeom prst="rect">
            <a:avLst/>
          </a:prstGeom>
          <a:solidFill>
            <a:srgbClr val="065A82"/>
          </a:solidFill>
          <a:ln w="12700">
            <a:solidFill>
              <a:srgbClr val="065A82"/>
            </a:solidFill>
            <a:prstDash val="solid"/>
          </a:ln>
        </p:spPr>
        <p:txBody>
          <a:bodyPr/>
          <a:lstStyle/>
          <a:p>
            <a:endParaRPr lang="en-US"/>
          </a:p>
        </p:txBody>
      </p:sp>
      <p:sp>
        <p:nvSpPr>
          <p:cNvPr id="7" name="Text 5"/>
          <p:cNvSpPr/>
          <p:nvPr/>
        </p:nvSpPr>
        <p:spPr>
          <a:xfrm>
            <a:off x="457200" y="1005840"/>
            <a:ext cx="2468880" cy="347472"/>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What is an MFI?</a:t>
            </a:r>
            <a:endParaRPr lang="en-US" sz="1300" dirty="0"/>
          </a:p>
        </p:txBody>
      </p:sp>
      <p:sp>
        <p:nvSpPr>
          <p:cNvPr id="8" name="Text 6"/>
          <p:cNvSpPr/>
          <p:nvPr/>
        </p:nvSpPr>
        <p:spPr>
          <a:xfrm>
            <a:off x="484632" y="1463040"/>
            <a:ext cx="2487168" cy="3291840"/>
          </a:xfrm>
          <a:prstGeom prst="rect">
            <a:avLst/>
          </a:prstGeom>
          <a:noFill/>
          <a:ln/>
        </p:spPr>
        <p:txBody>
          <a:bodyPr wrap="square" rtlCol="0" anchor="t"/>
          <a:lstStyle/>
          <a:p>
            <a:pPr marL="0" indent="0">
              <a:buNone/>
            </a:pPr>
            <a:r>
              <a:rPr lang="en-US" sz="1050" dirty="0">
                <a:solidFill>
                  <a:srgbClr val="1E293B"/>
                </a:solidFill>
                <a:latin typeface="Calibri" pitchFamily="34" charset="0"/>
                <a:ea typeface="Calibri" pitchFamily="34" charset="-122"/>
                <a:cs typeface="Calibri" pitchFamily="34" charset="-120"/>
              </a:rPr>
              <a:t>A Microfinance Institution provides small loans to low-income borrowers who lack access to traditional banks.</a:t>
            </a:r>
            <a:endParaRPr lang="en-US" sz="1050" dirty="0"/>
          </a:p>
          <a:p>
            <a:pPr marL="0" indent="0">
              <a:buNone/>
            </a:pP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Unlike a bank, an MFI:</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Lends in small amounts (MMK 50K–2M)</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Uses group-lending models</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Relies on loan officers in the field</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Works with clients who have no credit history</a:t>
            </a:r>
            <a:endParaRPr lang="en-US" sz="1050" dirty="0"/>
          </a:p>
          <a:p>
            <a:pPr marL="0" indent="0">
              <a:buNone/>
            </a:pP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Apache Fineract exists precisely to power MFIs — it has the loan lifecycle baked in.</a:t>
            </a:r>
            <a:endParaRPr lang="en-US" sz="1050" dirty="0"/>
          </a:p>
        </p:txBody>
      </p:sp>
      <p:sp>
        <p:nvSpPr>
          <p:cNvPr id="9" name="Shape 7"/>
          <p:cNvSpPr/>
          <p:nvPr/>
        </p:nvSpPr>
        <p:spPr>
          <a:xfrm>
            <a:off x="3200400" y="960120"/>
            <a:ext cx="2743200" cy="3931920"/>
          </a:xfrm>
          <a:prstGeom prst="rect">
            <a:avLst/>
          </a:prstGeom>
          <a:solidFill>
            <a:srgbClr val="FFFFFF"/>
          </a:solidFill>
          <a:ln w="6350">
            <a:solidFill>
              <a:srgbClr val="E2E8F0"/>
            </a:solidFill>
            <a:prstDash val="solid"/>
          </a:ln>
          <a:effectLst>
            <a:outerShdw blurRad="76200" dist="25400" dir="8100000" algn="bl" rotWithShape="0">
              <a:srgbClr val="000000">
                <a:alpha val="8000"/>
              </a:srgbClr>
            </a:outerShdw>
          </a:effectLst>
        </p:spPr>
        <p:txBody>
          <a:bodyPr/>
          <a:lstStyle/>
          <a:p>
            <a:endParaRPr lang="en-US"/>
          </a:p>
        </p:txBody>
      </p:sp>
      <p:sp>
        <p:nvSpPr>
          <p:cNvPr id="10" name="Shape 8"/>
          <p:cNvSpPr/>
          <p:nvPr/>
        </p:nvSpPr>
        <p:spPr>
          <a:xfrm>
            <a:off x="3200400" y="960120"/>
            <a:ext cx="64008" cy="3931920"/>
          </a:xfrm>
          <a:prstGeom prst="rect">
            <a:avLst/>
          </a:prstGeom>
          <a:solidFill>
            <a:srgbClr val="1C7293"/>
          </a:solidFill>
          <a:ln w="12700">
            <a:solidFill>
              <a:srgbClr val="1C7293"/>
            </a:solidFill>
            <a:prstDash val="solid"/>
          </a:ln>
        </p:spPr>
        <p:txBody>
          <a:bodyPr/>
          <a:lstStyle/>
          <a:p>
            <a:endParaRPr lang="en-US"/>
          </a:p>
        </p:txBody>
      </p:sp>
      <p:sp>
        <p:nvSpPr>
          <p:cNvPr id="11" name="Shape 9"/>
          <p:cNvSpPr/>
          <p:nvPr/>
        </p:nvSpPr>
        <p:spPr>
          <a:xfrm>
            <a:off x="3200400" y="960120"/>
            <a:ext cx="2743200" cy="438912"/>
          </a:xfrm>
          <a:prstGeom prst="rect">
            <a:avLst/>
          </a:prstGeom>
          <a:solidFill>
            <a:srgbClr val="1C7293"/>
          </a:solidFill>
          <a:ln w="12700">
            <a:solidFill>
              <a:srgbClr val="1C7293"/>
            </a:solidFill>
            <a:prstDash val="solid"/>
          </a:ln>
        </p:spPr>
        <p:txBody>
          <a:bodyPr/>
          <a:lstStyle/>
          <a:p>
            <a:endParaRPr lang="en-US"/>
          </a:p>
        </p:txBody>
      </p:sp>
      <p:sp>
        <p:nvSpPr>
          <p:cNvPr id="12" name="Text 10"/>
          <p:cNvSpPr/>
          <p:nvPr/>
        </p:nvSpPr>
        <p:spPr>
          <a:xfrm>
            <a:off x="3337560" y="1005840"/>
            <a:ext cx="2468880" cy="347472"/>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PAR — Portfolio at Risk</a:t>
            </a:r>
            <a:endParaRPr lang="en-US" sz="1300" dirty="0"/>
          </a:p>
        </p:txBody>
      </p:sp>
      <p:sp>
        <p:nvSpPr>
          <p:cNvPr id="13" name="Text 11"/>
          <p:cNvSpPr/>
          <p:nvPr/>
        </p:nvSpPr>
        <p:spPr>
          <a:xfrm>
            <a:off x="3364992" y="1463040"/>
            <a:ext cx="2487168" cy="3291840"/>
          </a:xfrm>
          <a:prstGeom prst="rect">
            <a:avLst/>
          </a:prstGeom>
          <a:noFill/>
          <a:ln/>
        </p:spPr>
        <p:txBody>
          <a:bodyPr wrap="square" rtlCol="0" anchor="t"/>
          <a:lstStyle/>
          <a:p>
            <a:pPr marL="0" indent="0">
              <a:buNone/>
            </a:pPr>
            <a:r>
              <a:rPr lang="en-US" sz="1050" dirty="0">
                <a:solidFill>
                  <a:srgbClr val="1E293B"/>
                </a:solidFill>
                <a:latin typeface="Calibri" pitchFamily="34" charset="0"/>
                <a:ea typeface="Calibri" pitchFamily="34" charset="-122"/>
                <a:cs typeface="Calibri" pitchFamily="34" charset="-120"/>
              </a:rPr>
              <a:t>PAR measures what % of your loan portfolio is at risk of default.</a:t>
            </a:r>
            <a:endParaRPr lang="en-US" sz="1050" dirty="0"/>
          </a:p>
          <a:p>
            <a:pPr marL="0" indent="0">
              <a:buNone/>
            </a:pP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PAR0   — any loan 1+ day overdue</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PAR30 — 30+ days overdue (headline KPI)</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PAR90 — 90+ days overdue (severe)</a:t>
            </a:r>
            <a:endParaRPr lang="en-US" sz="1050" dirty="0"/>
          </a:p>
          <a:p>
            <a:pPr marL="0" indent="0">
              <a:buNone/>
            </a:pP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Calculated via direct SQL on repayment schedule:</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days_in_arrears = TODAY − oldest unpaid due date</a:t>
            </a:r>
            <a:endParaRPr lang="en-US" sz="1050" dirty="0"/>
          </a:p>
          <a:p>
            <a:pPr marL="0" indent="0">
              <a:buNone/>
            </a:pP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Why SQL, not Fineract API?</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Fineract's inArrears flag only updates after a scheduled batch job. Direct SQL is real-time.</a:t>
            </a:r>
            <a:endParaRPr lang="en-US" sz="1050" dirty="0"/>
          </a:p>
        </p:txBody>
      </p:sp>
      <p:sp>
        <p:nvSpPr>
          <p:cNvPr id="14" name="Shape 12"/>
          <p:cNvSpPr/>
          <p:nvPr/>
        </p:nvSpPr>
        <p:spPr>
          <a:xfrm>
            <a:off x="6080760" y="960120"/>
            <a:ext cx="2743200" cy="3931920"/>
          </a:xfrm>
          <a:prstGeom prst="rect">
            <a:avLst/>
          </a:prstGeom>
          <a:solidFill>
            <a:srgbClr val="FFFFFF"/>
          </a:solidFill>
          <a:ln w="6350">
            <a:solidFill>
              <a:srgbClr val="E2E8F0"/>
            </a:solidFill>
            <a:prstDash val="solid"/>
          </a:ln>
          <a:effectLst>
            <a:outerShdw blurRad="76200" dist="25400" dir="8100000" algn="bl" rotWithShape="0">
              <a:srgbClr val="000000">
                <a:alpha val="8000"/>
              </a:srgbClr>
            </a:outerShdw>
          </a:effectLst>
        </p:spPr>
        <p:txBody>
          <a:bodyPr/>
          <a:lstStyle/>
          <a:p>
            <a:endParaRPr lang="en-US"/>
          </a:p>
        </p:txBody>
      </p:sp>
      <p:sp>
        <p:nvSpPr>
          <p:cNvPr id="15" name="Shape 13"/>
          <p:cNvSpPr/>
          <p:nvPr/>
        </p:nvSpPr>
        <p:spPr>
          <a:xfrm>
            <a:off x="6080760" y="960120"/>
            <a:ext cx="64008" cy="3931920"/>
          </a:xfrm>
          <a:prstGeom prst="rect">
            <a:avLst/>
          </a:prstGeom>
          <a:solidFill>
            <a:srgbClr val="065F46"/>
          </a:solidFill>
          <a:ln w="12700">
            <a:solidFill>
              <a:srgbClr val="065F46"/>
            </a:solidFill>
            <a:prstDash val="solid"/>
          </a:ln>
        </p:spPr>
        <p:txBody>
          <a:bodyPr/>
          <a:lstStyle/>
          <a:p>
            <a:endParaRPr lang="en-US"/>
          </a:p>
        </p:txBody>
      </p:sp>
      <p:sp>
        <p:nvSpPr>
          <p:cNvPr id="16" name="Shape 14"/>
          <p:cNvSpPr/>
          <p:nvPr/>
        </p:nvSpPr>
        <p:spPr>
          <a:xfrm>
            <a:off x="6080760" y="960120"/>
            <a:ext cx="2743200" cy="438912"/>
          </a:xfrm>
          <a:prstGeom prst="rect">
            <a:avLst/>
          </a:prstGeom>
          <a:solidFill>
            <a:srgbClr val="065F46"/>
          </a:solidFill>
          <a:ln w="12700">
            <a:solidFill>
              <a:srgbClr val="065F46"/>
            </a:solidFill>
            <a:prstDash val="solid"/>
          </a:ln>
        </p:spPr>
        <p:txBody>
          <a:bodyPr/>
          <a:lstStyle/>
          <a:p>
            <a:endParaRPr lang="en-US"/>
          </a:p>
        </p:txBody>
      </p:sp>
      <p:sp>
        <p:nvSpPr>
          <p:cNvPr id="17" name="Text 15"/>
          <p:cNvSpPr/>
          <p:nvPr/>
        </p:nvSpPr>
        <p:spPr>
          <a:xfrm>
            <a:off x="6217920" y="1005840"/>
            <a:ext cx="2468880" cy="347472"/>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Loan Lifecycle</a:t>
            </a:r>
            <a:endParaRPr lang="en-US" sz="1300" dirty="0"/>
          </a:p>
        </p:txBody>
      </p:sp>
      <p:sp>
        <p:nvSpPr>
          <p:cNvPr id="18" name="Text 16"/>
          <p:cNvSpPr/>
          <p:nvPr/>
        </p:nvSpPr>
        <p:spPr>
          <a:xfrm>
            <a:off x="6245352" y="1463040"/>
            <a:ext cx="2487168" cy="3291840"/>
          </a:xfrm>
          <a:prstGeom prst="rect">
            <a:avLst/>
          </a:prstGeom>
          <a:noFill/>
          <a:ln/>
        </p:spPr>
        <p:txBody>
          <a:bodyPr wrap="square" rtlCol="0" anchor="t"/>
          <a:lstStyle/>
          <a:p>
            <a:pPr marL="0" indent="0">
              <a:buNone/>
            </a:pPr>
            <a:r>
              <a:rPr lang="en-US" sz="1050" dirty="0">
                <a:solidFill>
                  <a:srgbClr val="1E293B"/>
                </a:solidFill>
                <a:latin typeface="Calibri" pitchFamily="34" charset="0"/>
                <a:ea typeface="Calibri" pitchFamily="34" charset="-122"/>
                <a:cs typeface="Calibri" pitchFamily="34" charset="-120"/>
              </a:rPr>
              <a:t>1. Client registration + KYC</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2. Loan application submitted</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3. Loan officer review</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4. Branch manager approval</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5. Disbursement (funds sent)</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6. Repayment schedule active</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7. Collections (via KBZ Pay)</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8. Loan closed (status 600)</a:t>
            </a:r>
            <a:endParaRPr lang="en-US" sz="1050" dirty="0"/>
          </a:p>
          <a:p>
            <a:pPr marL="0" indent="0">
              <a:buNone/>
            </a:pP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status_id 300 = Active loan</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status_id 600 = Closed loan</a:t>
            </a:r>
            <a:endParaRPr lang="en-US" sz="1050" dirty="0"/>
          </a:p>
          <a:p>
            <a:pPr marL="0" indent="0">
              <a:buNone/>
            </a:pP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In Fineract: m_loan table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7FB"/>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48640"/>
          </a:xfrm>
          <a:prstGeom prst="rect">
            <a:avLst/>
          </a:prstGeom>
          <a:noFill/>
          <a:ln/>
        </p:spPr>
        <p:txBody>
          <a:bodyPr wrap="square" lIns="0" tIns="0" rIns="0" bIns="0" rtlCol="0" anchor="ctr"/>
          <a:lstStyle/>
          <a:p>
            <a:pPr marL="0" indent="0">
              <a:buNone/>
            </a:pPr>
            <a:r>
              <a:rPr lang="en-US" sz="2600" b="1" dirty="0">
                <a:solidFill>
                  <a:srgbClr val="065A82"/>
                </a:solidFill>
                <a:latin typeface="Georgia" pitchFamily="34" charset="0"/>
                <a:ea typeface="Georgia" pitchFamily="34" charset="-122"/>
                <a:cs typeface="Georgia" pitchFamily="34" charset="-120"/>
              </a:rPr>
              <a:t>Tech Stack</a:t>
            </a:r>
            <a:endParaRPr lang="en-US" sz="2600" dirty="0"/>
          </a:p>
        </p:txBody>
      </p:sp>
      <p:sp>
        <p:nvSpPr>
          <p:cNvPr id="3" name="Shape 1"/>
          <p:cNvSpPr/>
          <p:nvPr/>
        </p:nvSpPr>
        <p:spPr>
          <a:xfrm>
            <a:off x="365760" y="749808"/>
            <a:ext cx="1097280" cy="45720"/>
          </a:xfrm>
          <a:prstGeom prst="rect">
            <a:avLst/>
          </a:prstGeom>
          <a:solidFill>
            <a:srgbClr val="02C39A"/>
          </a:solidFill>
          <a:ln w="12700">
            <a:solidFill>
              <a:srgbClr val="02C39A"/>
            </a:solidFill>
            <a:prstDash val="solid"/>
          </a:ln>
        </p:spPr>
        <p:txBody>
          <a:bodyPr/>
          <a:lstStyle/>
          <a:p>
            <a:endParaRPr lang="en-US"/>
          </a:p>
        </p:txBody>
      </p:sp>
      <p:sp>
        <p:nvSpPr>
          <p:cNvPr id="4" name="Shape 2"/>
          <p:cNvSpPr/>
          <p:nvPr/>
        </p:nvSpPr>
        <p:spPr>
          <a:xfrm>
            <a:off x="320040" y="960120"/>
            <a:ext cx="4206240" cy="1920240"/>
          </a:xfrm>
          <a:prstGeom prst="rect">
            <a:avLst/>
          </a:prstGeom>
          <a:solidFill>
            <a:srgbClr val="FFFFFF"/>
          </a:solidFill>
          <a:ln w="6350">
            <a:solidFill>
              <a:srgbClr val="E2E8F0"/>
            </a:solidFill>
            <a:prstDash val="solid"/>
          </a:ln>
          <a:effectLst>
            <a:outerShdw blurRad="76200" dist="25400" dir="8100000" algn="bl" rotWithShape="0">
              <a:srgbClr val="000000">
                <a:alpha val="8000"/>
              </a:srgbClr>
            </a:outerShdw>
          </a:effectLst>
        </p:spPr>
        <p:txBody>
          <a:bodyPr/>
          <a:lstStyle/>
          <a:p>
            <a:endParaRPr lang="en-US"/>
          </a:p>
        </p:txBody>
      </p:sp>
      <p:sp>
        <p:nvSpPr>
          <p:cNvPr id="5" name="Shape 3"/>
          <p:cNvSpPr/>
          <p:nvPr/>
        </p:nvSpPr>
        <p:spPr>
          <a:xfrm>
            <a:off x="320040" y="960120"/>
            <a:ext cx="64008" cy="1920240"/>
          </a:xfrm>
          <a:prstGeom prst="rect">
            <a:avLst/>
          </a:prstGeom>
          <a:solidFill>
            <a:srgbClr val="1C7293"/>
          </a:solidFill>
          <a:ln w="12700">
            <a:solidFill>
              <a:srgbClr val="1C7293"/>
            </a:solidFill>
            <a:prstDash val="solid"/>
          </a:ln>
        </p:spPr>
        <p:txBody>
          <a:bodyPr/>
          <a:lstStyle/>
          <a:p>
            <a:endParaRPr lang="en-US"/>
          </a:p>
        </p:txBody>
      </p:sp>
      <p:sp>
        <p:nvSpPr>
          <p:cNvPr id="6" name="Shape 4"/>
          <p:cNvSpPr/>
          <p:nvPr/>
        </p:nvSpPr>
        <p:spPr>
          <a:xfrm>
            <a:off x="320040" y="960120"/>
            <a:ext cx="4206240" cy="384048"/>
          </a:xfrm>
          <a:prstGeom prst="rect">
            <a:avLst/>
          </a:prstGeom>
          <a:solidFill>
            <a:srgbClr val="1C7293"/>
          </a:solidFill>
          <a:ln w="12700">
            <a:solidFill>
              <a:srgbClr val="1C7293"/>
            </a:solidFill>
            <a:prstDash val="solid"/>
          </a:ln>
        </p:spPr>
        <p:txBody>
          <a:bodyPr/>
          <a:lstStyle/>
          <a:p>
            <a:endParaRPr lang="en-US"/>
          </a:p>
        </p:txBody>
      </p:sp>
      <p:sp>
        <p:nvSpPr>
          <p:cNvPr id="7" name="Text 5"/>
          <p:cNvSpPr/>
          <p:nvPr/>
        </p:nvSpPr>
        <p:spPr>
          <a:xfrm>
            <a:off x="457200" y="1024128"/>
            <a:ext cx="3931920" cy="256032"/>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Frontend</a:t>
            </a:r>
            <a:endParaRPr lang="en-US" sz="1300" dirty="0"/>
          </a:p>
        </p:txBody>
      </p:sp>
      <p:pic>
        <p:nvPicPr>
          <p:cNvPr id="8" name="Image 0" descr="preencoded.png"/>
          <p:cNvPicPr>
            <a:picLocks noChangeAspect="1"/>
          </p:cNvPicPr>
          <p:nvPr/>
        </p:nvPicPr>
        <p:blipFill>
          <a:blip r:embed="rId3"/>
          <a:stretch>
            <a:fillRect/>
          </a:stretch>
        </p:blipFill>
        <p:spPr>
          <a:xfrm>
            <a:off x="457200" y="1435608"/>
            <a:ext cx="146304" cy="146304"/>
          </a:xfrm>
          <a:prstGeom prst="rect">
            <a:avLst/>
          </a:prstGeom>
        </p:spPr>
      </p:pic>
      <p:sp>
        <p:nvSpPr>
          <p:cNvPr id="9" name="Text 6"/>
          <p:cNvSpPr/>
          <p:nvPr/>
        </p:nvSpPr>
        <p:spPr>
          <a:xfrm>
            <a:off x="667512" y="1417320"/>
            <a:ext cx="3749040" cy="2286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Next.js 14 (App Router)</a:t>
            </a:r>
            <a:endParaRPr lang="en-US" sz="1100" dirty="0"/>
          </a:p>
        </p:txBody>
      </p:sp>
      <p:pic>
        <p:nvPicPr>
          <p:cNvPr id="10" name="Image 1" descr="preencoded.png"/>
          <p:cNvPicPr>
            <a:picLocks noChangeAspect="1"/>
          </p:cNvPicPr>
          <p:nvPr/>
        </p:nvPicPr>
        <p:blipFill>
          <a:blip r:embed="rId3"/>
          <a:stretch>
            <a:fillRect/>
          </a:stretch>
        </p:blipFill>
        <p:spPr>
          <a:xfrm>
            <a:off x="457200" y="1719072"/>
            <a:ext cx="146304" cy="146304"/>
          </a:xfrm>
          <a:prstGeom prst="rect">
            <a:avLst/>
          </a:prstGeom>
        </p:spPr>
      </p:pic>
      <p:sp>
        <p:nvSpPr>
          <p:cNvPr id="11" name="Text 7"/>
          <p:cNvSpPr/>
          <p:nvPr/>
        </p:nvSpPr>
        <p:spPr>
          <a:xfrm>
            <a:off x="667512" y="1700784"/>
            <a:ext cx="3749040" cy="2286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React 18 + Tailwind CSS</a:t>
            </a:r>
            <a:endParaRPr lang="en-US" sz="1100" dirty="0"/>
          </a:p>
        </p:txBody>
      </p:sp>
      <p:pic>
        <p:nvPicPr>
          <p:cNvPr id="12" name="Image 2" descr="preencoded.png"/>
          <p:cNvPicPr>
            <a:picLocks noChangeAspect="1"/>
          </p:cNvPicPr>
          <p:nvPr/>
        </p:nvPicPr>
        <p:blipFill>
          <a:blip r:embed="rId3"/>
          <a:stretch>
            <a:fillRect/>
          </a:stretch>
        </p:blipFill>
        <p:spPr>
          <a:xfrm>
            <a:off x="457200" y="2002536"/>
            <a:ext cx="146304" cy="146304"/>
          </a:xfrm>
          <a:prstGeom prst="rect">
            <a:avLst/>
          </a:prstGeom>
        </p:spPr>
      </p:pic>
      <p:sp>
        <p:nvSpPr>
          <p:cNvPr id="13" name="Text 8"/>
          <p:cNvSpPr/>
          <p:nvPr/>
        </p:nvSpPr>
        <p:spPr>
          <a:xfrm>
            <a:off x="667512" y="1984248"/>
            <a:ext cx="3749040" cy="2286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React Query (data fetching)</a:t>
            </a:r>
            <a:endParaRPr lang="en-US" sz="1100" dirty="0"/>
          </a:p>
        </p:txBody>
      </p:sp>
      <p:pic>
        <p:nvPicPr>
          <p:cNvPr id="14" name="Image 3" descr="preencoded.png"/>
          <p:cNvPicPr>
            <a:picLocks noChangeAspect="1"/>
          </p:cNvPicPr>
          <p:nvPr/>
        </p:nvPicPr>
        <p:blipFill>
          <a:blip r:embed="rId3"/>
          <a:stretch>
            <a:fillRect/>
          </a:stretch>
        </p:blipFill>
        <p:spPr>
          <a:xfrm>
            <a:off x="457200" y="2286000"/>
            <a:ext cx="146304" cy="146304"/>
          </a:xfrm>
          <a:prstGeom prst="rect">
            <a:avLst/>
          </a:prstGeom>
        </p:spPr>
      </p:pic>
      <p:sp>
        <p:nvSpPr>
          <p:cNvPr id="15" name="Text 9"/>
          <p:cNvSpPr/>
          <p:nvPr/>
        </p:nvSpPr>
        <p:spPr>
          <a:xfrm>
            <a:off x="667512" y="2267712"/>
            <a:ext cx="3749040" cy="2286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Recharts (charts)</a:t>
            </a:r>
            <a:endParaRPr lang="en-US" sz="1100" dirty="0"/>
          </a:p>
        </p:txBody>
      </p:sp>
      <p:pic>
        <p:nvPicPr>
          <p:cNvPr id="16" name="Image 4" descr="preencoded.png"/>
          <p:cNvPicPr>
            <a:picLocks noChangeAspect="1"/>
          </p:cNvPicPr>
          <p:nvPr/>
        </p:nvPicPr>
        <p:blipFill>
          <a:blip r:embed="rId3"/>
          <a:stretch>
            <a:fillRect/>
          </a:stretch>
        </p:blipFill>
        <p:spPr>
          <a:xfrm>
            <a:off x="457200" y="2569464"/>
            <a:ext cx="146304" cy="146304"/>
          </a:xfrm>
          <a:prstGeom prst="rect">
            <a:avLst/>
          </a:prstGeom>
        </p:spPr>
      </p:pic>
      <p:sp>
        <p:nvSpPr>
          <p:cNvPr id="17" name="Text 10"/>
          <p:cNvSpPr/>
          <p:nvPr/>
        </p:nvSpPr>
        <p:spPr>
          <a:xfrm>
            <a:off x="667512" y="2551176"/>
            <a:ext cx="3749040" cy="2286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Expo React Native (mobile)</a:t>
            </a:r>
            <a:endParaRPr lang="en-US" sz="1100" dirty="0"/>
          </a:p>
        </p:txBody>
      </p:sp>
      <p:sp>
        <p:nvSpPr>
          <p:cNvPr id="18" name="Shape 11"/>
          <p:cNvSpPr/>
          <p:nvPr/>
        </p:nvSpPr>
        <p:spPr>
          <a:xfrm>
            <a:off x="4754880" y="960120"/>
            <a:ext cx="4206240" cy="1920240"/>
          </a:xfrm>
          <a:prstGeom prst="rect">
            <a:avLst/>
          </a:prstGeom>
          <a:solidFill>
            <a:srgbClr val="FFFFFF"/>
          </a:solidFill>
          <a:ln w="6350">
            <a:solidFill>
              <a:srgbClr val="E2E8F0"/>
            </a:solidFill>
            <a:prstDash val="solid"/>
          </a:ln>
          <a:effectLst>
            <a:outerShdw blurRad="76200" dist="25400" dir="8100000" algn="bl" rotWithShape="0">
              <a:srgbClr val="000000">
                <a:alpha val="8000"/>
              </a:srgbClr>
            </a:outerShdw>
          </a:effectLst>
        </p:spPr>
        <p:txBody>
          <a:bodyPr/>
          <a:lstStyle/>
          <a:p>
            <a:endParaRPr lang="en-US"/>
          </a:p>
        </p:txBody>
      </p:sp>
      <p:sp>
        <p:nvSpPr>
          <p:cNvPr id="19" name="Shape 12"/>
          <p:cNvSpPr/>
          <p:nvPr/>
        </p:nvSpPr>
        <p:spPr>
          <a:xfrm>
            <a:off x="4754880" y="960120"/>
            <a:ext cx="64008" cy="1920240"/>
          </a:xfrm>
          <a:prstGeom prst="rect">
            <a:avLst/>
          </a:prstGeom>
          <a:solidFill>
            <a:srgbClr val="065A82"/>
          </a:solidFill>
          <a:ln w="12700">
            <a:solidFill>
              <a:srgbClr val="065A82"/>
            </a:solidFill>
            <a:prstDash val="solid"/>
          </a:ln>
        </p:spPr>
        <p:txBody>
          <a:bodyPr/>
          <a:lstStyle/>
          <a:p>
            <a:endParaRPr lang="en-US"/>
          </a:p>
        </p:txBody>
      </p:sp>
      <p:sp>
        <p:nvSpPr>
          <p:cNvPr id="20" name="Shape 13"/>
          <p:cNvSpPr/>
          <p:nvPr/>
        </p:nvSpPr>
        <p:spPr>
          <a:xfrm>
            <a:off x="4754880" y="960120"/>
            <a:ext cx="4206240" cy="384048"/>
          </a:xfrm>
          <a:prstGeom prst="rect">
            <a:avLst/>
          </a:prstGeom>
          <a:solidFill>
            <a:srgbClr val="065A82"/>
          </a:solidFill>
          <a:ln w="12700">
            <a:solidFill>
              <a:srgbClr val="065A82"/>
            </a:solidFill>
            <a:prstDash val="solid"/>
          </a:ln>
        </p:spPr>
        <p:txBody>
          <a:bodyPr/>
          <a:lstStyle/>
          <a:p>
            <a:endParaRPr lang="en-US"/>
          </a:p>
        </p:txBody>
      </p:sp>
      <p:sp>
        <p:nvSpPr>
          <p:cNvPr id="21" name="Text 14"/>
          <p:cNvSpPr/>
          <p:nvPr/>
        </p:nvSpPr>
        <p:spPr>
          <a:xfrm>
            <a:off x="4892040" y="1024128"/>
            <a:ext cx="3931920" cy="256032"/>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Backend</a:t>
            </a:r>
            <a:endParaRPr lang="en-US" sz="1300" dirty="0"/>
          </a:p>
        </p:txBody>
      </p:sp>
      <p:pic>
        <p:nvPicPr>
          <p:cNvPr id="22" name="Image 5" descr="preencoded.png"/>
          <p:cNvPicPr>
            <a:picLocks noChangeAspect="1"/>
          </p:cNvPicPr>
          <p:nvPr/>
        </p:nvPicPr>
        <p:blipFill>
          <a:blip r:embed="rId3"/>
          <a:stretch>
            <a:fillRect/>
          </a:stretch>
        </p:blipFill>
        <p:spPr>
          <a:xfrm>
            <a:off x="4892040" y="1435608"/>
            <a:ext cx="146304" cy="146304"/>
          </a:xfrm>
          <a:prstGeom prst="rect">
            <a:avLst/>
          </a:prstGeom>
        </p:spPr>
      </p:pic>
      <p:sp>
        <p:nvSpPr>
          <p:cNvPr id="23" name="Text 15"/>
          <p:cNvSpPr/>
          <p:nvPr/>
        </p:nvSpPr>
        <p:spPr>
          <a:xfrm>
            <a:off x="5102352" y="1417320"/>
            <a:ext cx="3749040" cy="2286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Fastify 4 (API gateway)</a:t>
            </a:r>
            <a:endParaRPr lang="en-US" sz="1100" dirty="0"/>
          </a:p>
        </p:txBody>
      </p:sp>
      <p:pic>
        <p:nvPicPr>
          <p:cNvPr id="24" name="Image 6" descr="preencoded.png"/>
          <p:cNvPicPr>
            <a:picLocks noChangeAspect="1"/>
          </p:cNvPicPr>
          <p:nvPr/>
        </p:nvPicPr>
        <p:blipFill>
          <a:blip r:embed="rId3"/>
          <a:stretch>
            <a:fillRect/>
          </a:stretch>
        </p:blipFill>
        <p:spPr>
          <a:xfrm>
            <a:off x="4892040" y="1719072"/>
            <a:ext cx="146304" cy="146304"/>
          </a:xfrm>
          <a:prstGeom prst="rect">
            <a:avLst/>
          </a:prstGeom>
        </p:spPr>
      </p:pic>
      <p:sp>
        <p:nvSpPr>
          <p:cNvPr id="25" name="Text 16"/>
          <p:cNvSpPr/>
          <p:nvPr/>
        </p:nvSpPr>
        <p:spPr>
          <a:xfrm>
            <a:off x="5102352" y="1700784"/>
            <a:ext cx="3749040" cy="2286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TypeScript everywhere</a:t>
            </a:r>
            <a:endParaRPr lang="en-US" sz="1100" dirty="0"/>
          </a:p>
        </p:txBody>
      </p:sp>
      <p:pic>
        <p:nvPicPr>
          <p:cNvPr id="26" name="Image 7" descr="preencoded.png"/>
          <p:cNvPicPr>
            <a:picLocks noChangeAspect="1"/>
          </p:cNvPicPr>
          <p:nvPr/>
        </p:nvPicPr>
        <p:blipFill>
          <a:blip r:embed="rId3"/>
          <a:stretch>
            <a:fillRect/>
          </a:stretch>
        </p:blipFill>
        <p:spPr>
          <a:xfrm>
            <a:off x="4892040" y="2002536"/>
            <a:ext cx="146304" cy="146304"/>
          </a:xfrm>
          <a:prstGeom prst="rect">
            <a:avLst/>
          </a:prstGeom>
        </p:spPr>
      </p:pic>
      <p:sp>
        <p:nvSpPr>
          <p:cNvPr id="27" name="Text 17"/>
          <p:cNvSpPr/>
          <p:nvPr/>
        </p:nvSpPr>
        <p:spPr>
          <a:xfrm>
            <a:off x="5102352" y="1984248"/>
            <a:ext cx="3749040" cy="2286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Apache Fineract (Java)</a:t>
            </a:r>
            <a:endParaRPr lang="en-US" sz="1100" dirty="0"/>
          </a:p>
        </p:txBody>
      </p:sp>
      <p:pic>
        <p:nvPicPr>
          <p:cNvPr id="28" name="Image 8" descr="preencoded.png"/>
          <p:cNvPicPr>
            <a:picLocks noChangeAspect="1"/>
          </p:cNvPicPr>
          <p:nvPr/>
        </p:nvPicPr>
        <p:blipFill>
          <a:blip r:embed="rId3"/>
          <a:stretch>
            <a:fillRect/>
          </a:stretch>
        </p:blipFill>
        <p:spPr>
          <a:xfrm>
            <a:off x="4892040" y="2286000"/>
            <a:ext cx="146304" cy="146304"/>
          </a:xfrm>
          <a:prstGeom prst="rect">
            <a:avLst/>
          </a:prstGeom>
        </p:spPr>
      </p:pic>
      <p:sp>
        <p:nvSpPr>
          <p:cNvPr id="29" name="Text 18"/>
          <p:cNvSpPr/>
          <p:nvPr/>
        </p:nvSpPr>
        <p:spPr>
          <a:xfrm>
            <a:off x="5102352" y="2267712"/>
            <a:ext cx="3749040" cy="2286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Python FastAPI (reporting)</a:t>
            </a:r>
            <a:endParaRPr lang="en-US" sz="1100" dirty="0"/>
          </a:p>
        </p:txBody>
      </p:sp>
      <p:pic>
        <p:nvPicPr>
          <p:cNvPr id="30" name="Image 9" descr="preencoded.png"/>
          <p:cNvPicPr>
            <a:picLocks noChangeAspect="1"/>
          </p:cNvPicPr>
          <p:nvPr/>
        </p:nvPicPr>
        <p:blipFill>
          <a:blip r:embed="rId3"/>
          <a:stretch>
            <a:fillRect/>
          </a:stretch>
        </p:blipFill>
        <p:spPr>
          <a:xfrm>
            <a:off x="4892040" y="2569464"/>
            <a:ext cx="146304" cy="146304"/>
          </a:xfrm>
          <a:prstGeom prst="rect">
            <a:avLst/>
          </a:prstGeom>
        </p:spPr>
      </p:pic>
      <p:sp>
        <p:nvSpPr>
          <p:cNvPr id="31" name="Text 19"/>
          <p:cNvSpPr/>
          <p:nvPr/>
        </p:nvSpPr>
        <p:spPr>
          <a:xfrm>
            <a:off x="5102352" y="2551176"/>
            <a:ext cx="3749040" cy="2286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SQLAlchemy async + asyncpg</a:t>
            </a:r>
            <a:endParaRPr lang="en-US" sz="1100" dirty="0"/>
          </a:p>
        </p:txBody>
      </p:sp>
      <p:sp>
        <p:nvSpPr>
          <p:cNvPr id="32" name="Shape 20"/>
          <p:cNvSpPr/>
          <p:nvPr/>
        </p:nvSpPr>
        <p:spPr>
          <a:xfrm>
            <a:off x="320040" y="3063240"/>
            <a:ext cx="4206240" cy="1920240"/>
          </a:xfrm>
          <a:prstGeom prst="rect">
            <a:avLst/>
          </a:prstGeom>
          <a:solidFill>
            <a:srgbClr val="FFFFFF"/>
          </a:solidFill>
          <a:ln w="6350">
            <a:solidFill>
              <a:srgbClr val="E2E8F0"/>
            </a:solidFill>
            <a:prstDash val="solid"/>
          </a:ln>
          <a:effectLst>
            <a:outerShdw blurRad="76200" dist="25400" dir="8100000" algn="bl" rotWithShape="0">
              <a:srgbClr val="000000">
                <a:alpha val="8000"/>
              </a:srgbClr>
            </a:outerShdw>
          </a:effectLst>
        </p:spPr>
        <p:txBody>
          <a:bodyPr/>
          <a:lstStyle/>
          <a:p>
            <a:endParaRPr lang="en-US"/>
          </a:p>
        </p:txBody>
      </p:sp>
      <p:sp>
        <p:nvSpPr>
          <p:cNvPr id="33" name="Shape 21"/>
          <p:cNvSpPr/>
          <p:nvPr/>
        </p:nvSpPr>
        <p:spPr>
          <a:xfrm>
            <a:off x="320040" y="3063240"/>
            <a:ext cx="64008" cy="1920240"/>
          </a:xfrm>
          <a:prstGeom prst="rect">
            <a:avLst/>
          </a:prstGeom>
          <a:solidFill>
            <a:srgbClr val="1E5F74"/>
          </a:solidFill>
          <a:ln w="12700">
            <a:solidFill>
              <a:srgbClr val="1E5F74"/>
            </a:solidFill>
            <a:prstDash val="solid"/>
          </a:ln>
        </p:spPr>
        <p:txBody>
          <a:bodyPr/>
          <a:lstStyle/>
          <a:p>
            <a:endParaRPr lang="en-US"/>
          </a:p>
        </p:txBody>
      </p:sp>
      <p:sp>
        <p:nvSpPr>
          <p:cNvPr id="34" name="Shape 22"/>
          <p:cNvSpPr/>
          <p:nvPr/>
        </p:nvSpPr>
        <p:spPr>
          <a:xfrm>
            <a:off x="320040" y="3063240"/>
            <a:ext cx="4206240" cy="384048"/>
          </a:xfrm>
          <a:prstGeom prst="rect">
            <a:avLst/>
          </a:prstGeom>
          <a:solidFill>
            <a:srgbClr val="1E5F74"/>
          </a:solidFill>
          <a:ln w="12700">
            <a:solidFill>
              <a:srgbClr val="1E5F74"/>
            </a:solidFill>
            <a:prstDash val="solid"/>
          </a:ln>
        </p:spPr>
        <p:txBody>
          <a:bodyPr/>
          <a:lstStyle/>
          <a:p>
            <a:endParaRPr lang="en-US"/>
          </a:p>
        </p:txBody>
      </p:sp>
      <p:sp>
        <p:nvSpPr>
          <p:cNvPr id="35" name="Text 23"/>
          <p:cNvSpPr/>
          <p:nvPr/>
        </p:nvSpPr>
        <p:spPr>
          <a:xfrm>
            <a:off x="457200" y="3127248"/>
            <a:ext cx="3931920" cy="256032"/>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Auth &amp; Security</a:t>
            </a:r>
            <a:endParaRPr lang="en-US" sz="1300" dirty="0"/>
          </a:p>
        </p:txBody>
      </p:sp>
      <p:pic>
        <p:nvPicPr>
          <p:cNvPr id="36" name="Image 10" descr="preencoded.png"/>
          <p:cNvPicPr>
            <a:picLocks noChangeAspect="1"/>
          </p:cNvPicPr>
          <p:nvPr/>
        </p:nvPicPr>
        <p:blipFill>
          <a:blip r:embed="rId3"/>
          <a:stretch>
            <a:fillRect/>
          </a:stretch>
        </p:blipFill>
        <p:spPr>
          <a:xfrm>
            <a:off x="457200" y="3538728"/>
            <a:ext cx="146304" cy="146304"/>
          </a:xfrm>
          <a:prstGeom prst="rect">
            <a:avLst/>
          </a:prstGeom>
        </p:spPr>
      </p:pic>
      <p:sp>
        <p:nvSpPr>
          <p:cNvPr id="37" name="Text 24"/>
          <p:cNvSpPr/>
          <p:nvPr/>
        </p:nvSpPr>
        <p:spPr>
          <a:xfrm>
            <a:off x="667512" y="3520440"/>
            <a:ext cx="3749040" cy="2286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Keycloak 24 (OIDC)</a:t>
            </a:r>
            <a:endParaRPr lang="en-US" sz="1100" dirty="0"/>
          </a:p>
        </p:txBody>
      </p:sp>
      <p:pic>
        <p:nvPicPr>
          <p:cNvPr id="38" name="Image 11" descr="preencoded.png"/>
          <p:cNvPicPr>
            <a:picLocks noChangeAspect="1"/>
          </p:cNvPicPr>
          <p:nvPr/>
        </p:nvPicPr>
        <p:blipFill>
          <a:blip r:embed="rId3"/>
          <a:stretch>
            <a:fillRect/>
          </a:stretch>
        </p:blipFill>
        <p:spPr>
          <a:xfrm>
            <a:off x="457200" y="3822192"/>
            <a:ext cx="146304" cy="146304"/>
          </a:xfrm>
          <a:prstGeom prst="rect">
            <a:avLst/>
          </a:prstGeom>
        </p:spPr>
      </p:pic>
      <p:sp>
        <p:nvSpPr>
          <p:cNvPr id="39" name="Text 25"/>
          <p:cNvSpPr/>
          <p:nvPr/>
        </p:nvSpPr>
        <p:spPr>
          <a:xfrm>
            <a:off x="667512" y="3803904"/>
            <a:ext cx="3749040" cy="2286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JWT RS256 via JWKS</a:t>
            </a:r>
            <a:endParaRPr lang="en-US" sz="1100" dirty="0"/>
          </a:p>
        </p:txBody>
      </p:sp>
      <p:pic>
        <p:nvPicPr>
          <p:cNvPr id="40" name="Image 12" descr="preencoded.png"/>
          <p:cNvPicPr>
            <a:picLocks noChangeAspect="1"/>
          </p:cNvPicPr>
          <p:nvPr/>
        </p:nvPicPr>
        <p:blipFill>
          <a:blip r:embed="rId3"/>
          <a:stretch>
            <a:fillRect/>
          </a:stretch>
        </p:blipFill>
        <p:spPr>
          <a:xfrm>
            <a:off x="457200" y="4105656"/>
            <a:ext cx="146304" cy="146304"/>
          </a:xfrm>
          <a:prstGeom prst="rect">
            <a:avLst/>
          </a:prstGeom>
        </p:spPr>
      </p:pic>
      <p:sp>
        <p:nvSpPr>
          <p:cNvPr id="41" name="Text 26"/>
          <p:cNvSpPr/>
          <p:nvPr/>
        </p:nvSpPr>
        <p:spPr>
          <a:xfrm>
            <a:off x="667512" y="4087368"/>
            <a:ext cx="3749040" cy="2286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RBAC with role decorators</a:t>
            </a:r>
            <a:endParaRPr lang="en-US" sz="1100" dirty="0"/>
          </a:p>
        </p:txBody>
      </p:sp>
      <p:pic>
        <p:nvPicPr>
          <p:cNvPr id="42" name="Image 13" descr="preencoded.png"/>
          <p:cNvPicPr>
            <a:picLocks noChangeAspect="1"/>
          </p:cNvPicPr>
          <p:nvPr/>
        </p:nvPicPr>
        <p:blipFill>
          <a:blip r:embed="rId3"/>
          <a:stretch>
            <a:fillRect/>
          </a:stretch>
        </p:blipFill>
        <p:spPr>
          <a:xfrm>
            <a:off x="457200" y="4389120"/>
            <a:ext cx="146304" cy="146304"/>
          </a:xfrm>
          <a:prstGeom prst="rect">
            <a:avLst/>
          </a:prstGeom>
        </p:spPr>
      </p:pic>
      <p:sp>
        <p:nvSpPr>
          <p:cNvPr id="43" name="Text 27"/>
          <p:cNvSpPr/>
          <p:nvPr/>
        </p:nvSpPr>
        <p:spPr>
          <a:xfrm>
            <a:off x="667512" y="4370832"/>
            <a:ext cx="3749040" cy="2286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KBZ Pay HMAC-SHA256</a:t>
            </a:r>
            <a:endParaRPr lang="en-US" sz="1100" dirty="0"/>
          </a:p>
        </p:txBody>
      </p:sp>
      <p:pic>
        <p:nvPicPr>
          <p:cNvPr id="44" name="Image 14" descr="preencoded.png"/>
          <p:cNvPicPr>
            <a:picLocks noChangeAspect="1"/>
          </p:cNvPicPr>
          <p:nvPr/>
        </p:nvPicPr>
        <p:blipFill>
          <a:blip r:embed="rId3"/>
          <a:stretch>
            <a:fillRect/>
          </a:stretch>
        </p:blipFill>
        <p:spPr>
          <a:xfrm>
            <a:off x="457200" y="4672584"/>
            <a:ext cx="146304" cy="146304"/>
          </a:xfrm>
          <a:prstGeom prst="rect">
            <a:avLst/>
          </a:prstGeom>
        </p:spPr>
      </p:pic>
      <p:sp>
        <p:nvSpPr>
          <p:cNvPr id="45" name="Text 28"/>
          <p:cNvSpPr/>
          <p:nvPr/>
        </p:nvSpPr>
        <p:spPr>
          <a:xfrm>
            <a:off x="667512" y="4654296"/>
            <a:ext cx="3749040" cy="2286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Pluggable KYC providers</a:t>
            </a:r>
            <a:endParaRPr lang="en-US" sz="1100" dirty="0"/>
          </a:p>
        </p:txBody>
      </p:sp>
      <p:sp>
        <p:nvSpPr>
          <p:cNvPr id="46" name="Shape 29"/>
          <p:cNvSpPr/>
          <p:nvPr/>
        </p:nvSpPr>
        <p:spPr>
          <a:xfrm>
            <a:off x="4754880" y="3063240"/>
            <a:ext cx="4206240" cy="1920240"/>
          </a:xfrm>
          <a:prstGeom prst="rect">
            <a:avLst/>
          </a:prstGeom>
          <a:solidFill>
            <a:srgbClr val="FFFFFF"/>
          </a:solidFill>
          <a:ln w="6350">
            <a:solidFill>
              <a:srgbClr val="E2E8F0"/>
            </a:solidFill>
            <a:prstDash val="solid"/>
          </a:ln>
          <a:effectLst>
            <a:outerShdw blurRad="76200" dist="25400" dir="8100000" algn="bl" rotWithShape="0">
              <a:srgbClr val="000000">
                <a:alpha val="8000"/>
              </a:srgbClr>
            </a:outerShdw>
          </a:effectLst>
        </p:spPr>
        <p:txBody>
          <a:bodyPr/>
          <a:lstStyle/>
          <a:p>
            <a:endParaRPr lang="en-US"/>
          </a:p>
        </p:txBody>
      </p:sp>
      <p:sp>
        <p:nvSpPr>
          <p:cNvPr id="47" name="Shape 30"/>
          <p:cNvSpPr/>
          <p:nvPr/>
        </p:nvSpPr>
        <p:spPr>
          <a:xfrm>
            <a:off x="4754880" y="3063240"/>
            <a:ext cx="64008" cy="1920240"/>
          </a:xfrm>
          <a:prstGeom prst="rect">
            <a:avLst/>
          </a:prstGeom>
          <a:solidFill>
            <a:srgbClr val="334155"/>
          </a:solidFill>
          <a:ln w="12700">
            <a:solidFill>
              <a:srgbClr val="334155"/>
            </a:solidFill>
            <a:prstDash val="solid"/>
          </a:ln>
        </p:spPr>
        <p:txBody>
          <a:bodyPr/>
          <a:lstStyle/>
          <a:p>
            <a:endParaRPr lang="en-US"/>
          </a:p>
        </p:txBody>
      </p:sp>
      <p:sp>
        <p:nvSpPr>
          <p:cNvPr id="48" name="Shape 31"/>
          <p:cNvSpPr/>
          <p:nvPr/>
        </p:nvSpPr>
        <p:spPr>
          <a:xfrm>
            <a:off x="4754880" y="3063240"/>
            <a:ext cx="4206240" cy="384048"/>
          </a:xfrm>
          <a:prstGeom prst="rect">
            <a:avLst/>
          </a:prstGeom>
          <a:solidFill>
            <a:srgbClr val="334155"/>
          </a:solidFill>
          <a:ln w="12700">
            <a:solidFill>
              <a:srgbClr val="334155"/>
            </a:solidFill>
            <a:prstDash val="solid"/>
          </a:ln>
        </p:spPr>
        <p:txBody>
          <a:bodyPr/>
          <a:lstStyle/>
          <a:p>
            <a:endParaRPr lang="en-US"/>
          </a:p>
        </p:txBody>
      </p:sp>
      <p:sp>
        <p:nvSpPr>
          <p:cNvPr id="49" name="Text 32"/>
          <p:cNvSpPr/>
          <p:nvPr/>
        </p:nvSpPr>
        <p:spPr>
          <a:xfrm>
            <a:off x="4892040" y="3127248"/>
            <a:ext cx="3931920" cy="256032"/>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Infrastructure</a:t>
            </a:r>
            <a:endParaRPr lang="en-US" sz="1300" dirty="0"/>
          </a:p>
        </p:txBody>
      </p:sp>
      <p:pic>
        <p:nvPicPr>
          <p:cNvPr id="50" name="Image 15" descr="preencoded.png"/>
          <p:cNvPicPr>
            <a:picLocks noChangeAspect="1"/>
          </p:cNvPicPr>
          <p:nvPr/>
        </p:nvPicPr>
        <p:blipFill>
          <a:blip r:embed="rId3"/>
          <a:stretch>
            <a:fillRect/>
          </a:stretch>
        </p:blipFill>
        <p:spPr>
          <a:xfrm>
            <a:off x="4892040" y="3538728"/>
            <a:ext cx="146304" cy="146304"/>
          </a:xfrm>
          <a:prstGeom prst="rect">
            <a:avLst/>
          </a:prstGeom>
        </p:spPr>
      </p:pic>
      <p:sp>
        <p:nvSpPr>
          <p:cNvPr id="51" name="Text 33"/>
          <p:cNvSpPr/>
          <p:nvPr/>
        </p:nvSpPr>
        <p:spPr>
          <a:xfrm>
            <a:off x="5102352" y="3520440"/>
            <a:ext cx="3749040" cy="2286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Docker Compose (8 containers)</a:t>
            </a:r>
            <a:endParaRPr lang="en-US" sz="1100" dirty="0"/>
          </a:p>
        </p:txBody>
      </p:sp>
      <p:pic>
        <p:nvPicPr>
          <p:cNvPr id="52" name="Image 16" descr="preencoded.png"/>
          <p:cNvPicPr>
            <a:picLocks noChangeAspect="1"/>
          </p:cNvPicPr>
          <p:nvPr/>
        </p:nvPicPr>
        <p:blipFill>
          <a:blip r:embed="rId3"/>
          <a:stretch>
            <a:fillRect/>
          </a:stretch>
        </p:blipFill>
        <p:spPr>
          <a:xfrm>
            <a:off x="4892040" y="3822192"/>
            <a:ext cx="146304" cy="146304"/>
          </a:xfrm>
          <a:prstGeom prst="rect">
            <a:avLst/>
          </a:prstGeom>
        </p:spPr>
      </p:pic>
      <p:sp>
        <p:nvSpPr>
          <p:cNvPr id="53" name="Text 34"/>
          <p:cNvSpPr/>
          <p:nvPr/>
        </p:nvSpPr>
        <p:spPr>
          <a:xfrm>
            <a:off x="5102352" y="3803904"/>
            <a:ext cx="3749040" cy="2286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MySQL (Fineract data)</a:t>
            </a:r>
            <a:endParaRPr lang="en-US" sz="1100" dirty="0"/>
          </a:p>
        </p:txBody>
      </p:sp>
      <p:pic>
        <p:nvPicPr>
          <p:cNvPr id="54" name="Image 17" descr="preencoded.png"/>
          <p:cNvPicPr>
            <a:picLocks noChangeAspect="1"/>
          </p:cNvPicPr>
          <p:nvPr/>
        </p:nvPicPr>
        <p:blipFill>
          <a:blip r:embed="rId3"/>
          <a:stretch>
            <a:fillRect/>
          </a:stretch>
        </p:blipFill>
        <p:spPr>
          <a:xfrm>
            <a:off x="4892040" y="4105656"/>
            <a:ext cx="146304" cy="146304"/>
          </a:xfrm>
          <a:prstGeom prst="rect">
            <a:avLst/>
          </a:prstGeom>
        </p:spPr>
      </p:pic>
      <p:sp>
        <p:nvSpPr>
          <p:cNvPr id="55" name="Text 35"/>
          <p:cNvSpPr/>
          <p:nvPr/>
        </p:nvSpPr>
        <p:spPr>
          <a:xfrm>
            <a:off x="5102352" y="4087368"/>
            <a:ext cx="3749040" cy="2286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PostgreSQL (Keycloak + reporting)</a:t>
            </a:r>
            <a:endParaRPr lang="en-US" sz="1100" dirty="0"/>
          </a:p>
        </p:txBody>
      </p:sp>
      <p:pic>
        <p:nvPicPr>
          <p:cNvPr id="56" name="Image 18" descr="preencoded.png"/>
          <p:cNvPicPr>
            <a:picLocks noChangeAspect="1"/>
          </p:cNvPicPr>
          <p:nvPr/>
        </p:nvPicPr>
        <p:blipFill>
          <a:blip r:embed="rId3"/>
          <a:stretch>
            <a:fillRect/>
          </a:stretch>
        </p:blipFill>
        <p:spPr>
          <a:xfrm>
            <a:off x="4892040" y="4389120"/>
            <a:ext cx="146304" cy="146304"/>
          </a:xfrm>
          <a:prstGeom prst="rect">
            <a:avLst/>
          </a:prstGeom>
        </p:spPr>
      </p:pic>
      <p:sp>
        <p:nvSpPr>
          <p:cNvPr id="57" name="Text 36"/>
          <p:cNvSpPr/>
          <p:nvPr/>
        </p:nvSpPr>
        <p:spPr>
          <a:xfrm>
            <a:off x="5102352" y="4370832"/>
            <a:ext cx="3749040" cy="2286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Turborepo + pnpm monorepo</a:t>
            </a:r>
            <a:endParaRPr lang="en-US" sz="1100" dirty="0"/>
          </a:p>
        </p:txBody>
      </p:sp>
      <p:pic>
        <p:nvPicPr>
          <p:cNvPr id="58" name="Image 19" descr="preencoded.png"/>
          <p:cNvPicPr>
            <a:picLocks noChangeAspect="1"/>
          </p:cNvPicPr>
          <p:nvPr/>
        </p:nvPicPr>
        <p:blipFill>
          <a:blip r:embed="rId3"/>
          <a:stretch>
            <a:fillRect/>
          </a:stretch>
        </p:blipFill>
        <p:spPr>
          <a:xfrm>
            <a:off x="4892040" y="4672584"/>
            <a:ext cx="146304" cy="146304"/>
          </a:xfrm>
          <a:prstGeom prst="rect">
            <a:avLst/>
          </a:prstGeom>
        </p:spPr>
      </p:pic>
      <p:sp>
        <p:nvSpPr>
          <p:cNvPr id="59" name="Text 37"/>
          <p:cNvSpPr/>
          <p:nvPr/>
        </p:nvSpPr>
        <p:spPr>
          <a:xfrm>
            <a:off x="5102352" y="4654296"/>
            <a:ext cx="3749040" cy="2286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Shared TypeScript types package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7FB"/>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48640"/>
          </a:xfrm>
          <a:prstGeom prst="rect">
            <a:avLst/>
          </a:prstGeom>
          <a:noFill/>
          <a:ln/>
        </p:spPr>
        <p:txBody>
          <a:bodyPr wrap="square" lIns="0" tIns="0" rIns="0" bIns="0" rtlCol="0" anchor="ctr"/>
          <a:lstStyle/>
          <a:p>
            <a:pPr marL="0" indent="0">
              <a:buNone/>
            </a:pPr>
            <a:r>
              <a:rPr lang="en-US" sz="2600" b="1" dirty="0">
                <a:solidFill>
                  <a:srgbClr val="065A82"/>
                </a:solidFill>
                <a:latin typeface="Georgia" pitchFamily="34" charset="0"/>
                <a:ea typeface="Georgia" pitchFamily="34" charset="-122"/>
                <a:cs typeface="Georgia" pitchFamily="34" charset="-120"/>
              </a:rPr>
              <a:t>Auth Flow: JWT + Keycloak</a:t>
            </a:r>
            <a:endParaRPr lang="en-US" sz="2600" dirty="0"/>
          </a:p>
        </p:txBody>
      </p:sp>
      <p:sp>
        <p:nvSpPr>
          <p:cNvPr id="3" name="Shape 1"/>
          <p:cNvSpPr/>
          <p:nvPr/>
        </p:nvSpPr>
        <p:spPr>
          <a:xfrm>
            <a:off x="365760" y="749808"/>
            <a:ext cx="1097280" cy="45720"/>
          </a:xfrm>
          <a:prstGeom prst="rect">
            <a:avLst/>
          </a:prstGeom>
          <a:solidFill>
            <a:srgbClr val="02C39A"/>
          </a:solidFill>
          <a:ln w="12700">
            <a:solidFill>
              <a:srgbClr val="02C39A"/>
            </a:solidFill>
            <a:prstDash val="solid"/>
          </a:ln>
        </p:spPr>
        <p:txBody>
          <a:bodyPr/>
          <a:lstStyle/>
          <a:p>
            <a:endParaRPr lang="en-US"/>
          </a:p>
        </p:txBody>
      </p:sp>
      <p:sp>
        <p:nvSpPr>
          <p:cNvPr id="4" name="Shape 2"/>
          <p:cNvSpPr/>
          <p:nvPr/>
        </p:nvSpPr>
        <p:spPr>
          <a:xfrm>
            <a:off x="365760" y="987552"/>
            <a:ext cx="365760" cy="365760"/>
          </a:xfrm>
          <a:prstGeom prst="ellipse">
            <a:avLst/>
          </a:prstGeom>
          <a:solidFill>
            <a:srgbClr val="065A82"/>
          </a:solidFill>
          <a:ln w="12700">
            <a:solidFill>
              <a:srgbClr val="AACFE0"/>
            </a:solidFill>
            <a:prstDash val="solid"/>
          </a:ln>
        </p:spPr>
        <p:txBody>
          <a:bodyPr/>
          <a:lstStyle/>
          <a:p>
            <a:endParaRPr lang="en-US"/>
          </a:p>
        </p:txBody>
      </p:sp>
      <p:sp>
        <p:nvSpPr>
          <p:cNvPr id="5" name="Text 3"/>
          <p:cNvSpPr/>
          <p:nvPr/>
        </p:nvSpPr>
        <p:spPr>
          <a:xfrm>
            <a:off x="365760" y="98755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Shape 4"/>
          <p:cNvSpPr/>
          <p:nvPr/>
        </p:nvSpPr>
        <p:spPr>
          <a:xfrm>
            <a:off x="548640" y="1353312"/>
            <a:ext cx="0" cy="237744"/>
          </a:xfrm>
          <a:prstGeom prst="line">
            <a:avLst/>
          </a:prstGeom>
          <a:noFill/>
          <a:ln w="19050">
            <a:solidFill>
              <a:srgbClr val="C0D8E4"/>
            </a:solidFill>
            <a:prstDash val="solid"/>
          </a:ln>
        </p:spPr>
        <p:txBody>
          <a:bodyPr/>
          <a:lstStyle/>
          <a:p>
            <a:endParaRPr lang="en-US"/>
          </a:p>
        </p:txBody>
      </p:sp>
      <p:sp>
        <p:nvSpPr>
          <p:cNvPr id="7" name="Text 5"/>
          <p:cNvSpPr/>
          <p:nvPr/>
        </p:nvSpPr>
        <p:spPr>
          <a:xfrm>
            <a:off x="868680" y="1005840"/>
            <a:ext cx="4663440" cy="329184"/>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User submits username + password via the web portal login form.</a:t>
            </a:r>
            <a:endParaRPr lang="en-US" sz="1200" dirty="0"/>
          </a:p>
        </p:txBody>
      </p:sp>
      <p:sp>
        <p:nvSpPr>
          <p:cNvPr id="8" name="Shape 6"/>
          <p:cNvSpPr/>
          <p:nvPr/>
        </p:nvSpPr>
        <p:spPr>
          <a:xfrm>
            <a:off x="365760" y="1554480"/>
            <a:ext cx="365760" cy="365760"/>
          </a:xfrm>
          <a:prstGeom prst="ellipse">
            <a:avLst/>
          </a:prstGeom>
          <a:solidFill>
            <a:srgbClr val="065A82"/>
          </a:solidFill>
          <a:ln w="12700">
            <a:solidFill>
              <a:srgbClr val="AACFE0"/>
            </a:solidFill>
            <a:prstDash val="solid"/>
          </a:ln>
        </p:spPr>
        <p:txBody>
          <a:bodyPr/>
          <a:lstStyle/>
          <a:p>
            <a:endParaRPr lang="en-US"/>
          </a:p>
        </p:txBody>
      </p:sp>
      <p:sp>
        <p:nvSpPr>
          <p:cNvPr id="9" name="Text 7"/>
          <p:cNvSpPr/>
          <p:nvPr/>
        </p:nvSpPr>
        <p:spPr>
          <a:xfrm>
            <a:off x="365760" y="15544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Shape 8"/>
          <p:cNvSpPr/>
          <p:nvPr/>
        </p:nvSpPr>
        <p:spPr>
          <a:xfrm>
            <a:off x="548640" y="1920240"/>
            <a:ext cx="0" cy="237744"/>
          </a:xfrm>
          <a:prstGeom prst="line">
            <a:avLst/>
          </a:prstGeom>
          <a:noFill/>
          <a:ln w="19050">
            <a:solidFill>
              <a:srgbClr val="C0D8E4"/>
            </a:solidFill>
            <a:prstDash val="solid"/>
          </a:ln>
        </p:spPr>
        <p:txBody>
          <a:bodyPr/>
          <a:lstStyle/>
          <a:p>
            <a:endParaRPr lang="en-US"/>
          </a:p>
        </p:txBody>
      </p:sp>
      <p:sp>
        <p:nvSpPr>
          <p:cNvPr id="11" name="Text 9"/>
          <p:cNvSpPr/>
          <p:nvPr/>
        </p:nvSpPr>
        <p:spPr>
          <a:xfrm>
            <a:off x="868680" y="1572768"/>
            <a:ext cx="4663440" cy="329184"/>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API Gateway calls Keycloak using ROPC flow → receives JWT access token (RS256) + refresh token.</a:t>
            </a:r>
            <a:endParaRPr lang="en-US" sz="1200" dirty="0"/>
          </a:p>
        </p:txBody>
      </p:sp>
      <p:sp>
        <p:nvSpPr>
          <p:cNvPr id="12" name="Shape 10"/>
          <p:cNvSpPr/>
          <p:nvPr/>
        </p:nvSpPr>
        <p:spPr>
          <a:xfrm>
            <a:off x="365760" y="2121408"/>
            <a:ext cx="365760" cy="365760"/>
          </a:xfrm>
          <a:prstGeom prst="ellipse">
            <a:avLst/>
          </a:prstGeom>
          <a:solidFill>
            <a:srgbClr val="065A82"/>
          </a:solidFill>
          <a:ln w="12700">
            <a:solidFill>
              <a:srgbClr val="AACFE0"/>
            </a:solidFill>
            <a:prstDash val="solid"/>
          </a:ln>
        </p:spPr>
        <p:txBody>
          <a:bodyPr/>
          <a:lstStyle/>
          <a:p>
            <a:endParaRPr lang="en-US"/>
          </a:p>
        </p:txBody>
      </p:sp>
      <p:sp>
        <p:nvSpPr>
          <p:cNvPr id="13" name="Text 11"/>
          <p:cNvSpPr/>
          <p:nvPr/>
        </p:nvSpPr>
        <p:spPr>
          <a:xfrm>
            <a:off x="365760" y="212140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Shape 12"/>
          <p:cNvSpPr/>
          <p:nvPr/>
        </p:nvSpPr>
        <p:spPr>
          <a:xfrm>
            <a:off x="548640" y="2487168"/>
            <a:ext cx="0" cy="237744"/>
          </a:xfrm>
          <a:prstGeom prst="line">
            <a:avLst/>
          </a:prstGeom>
          <a:noFill/>
          <a:ln w="19050">
            <a:solidFill>
              <a:srgbClr val="C0D8E4"/>
            </a:solidFill>
            <a:prstDash val="solid"/>
          </a:ln>
        </p:spPr>
        <p:txBody>
          <a:bodyPr/>
          <a:lstStyle/>
          <a:p>
            <a:endParaRPr lang="en-US"/>
          </a:p>
        </p:txBody>
      </p:sp>
      <p:sp>
        <p:nvSpPr>
          <p:cNvPr id="15" name="Text 13"/>
          <p:cNvSpPr/>
          <p:nvPr/>
        </p:nvSpPr>
        <p:spPr>
          <a:xfrm>
            <a:off x="868680" y="2139696"/>
            <a:ext cx="4663440" cy="329184"/>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Subsequent requests include the JWT in the Authorization header.</a:t>
            </a:r>
            <a:endParaRPr lang="en-US" sz="1200" dirty="0"/>
          </a:p>
        </p:txBody>
      </p:sp>
      <p:sp>
        <p:nvSpPr>
          <p:cNvPr id="16" name="Shape 14"/>
          <p:cNvSpPr/>
          <p:nvPr/>
        </p:nvSpPr>
        <p:spPr>
          <a:xfrm>
            <a:off x="365760" y="2688336"/>
            <a:ext cx="365760" cy="365760"/>
          </a:xfrm>
          <a:prstGeom prst="ellipse">
            <a:avLst/>
          </a:prstGeom>
          <a:solidFill>
            <a:srgbClr val="065A82"/>
          </a:solidFill>
          <a:ln w="12700">
            <a:solidFill>
              <a:srgbClr val="AACFE0"/>
            </a:solidFill>
            <a:prstDash val="solid"/>
          </a:ln>
        </p:spPr>
        <p:txBody>
          <a:bodyPr/>
          <a:lstStyle/>
          <a:p>
            <a:endParaRPr lang="en-US"/>
          </a:p>
        </p:txBody>
      </p:sp>
      <p:sp>
        <p:nvSpPr>
          <p:cNvPr id="17" name="Text 15"/>
          <p:cNvSpPr/>
          <p:nvPr/>
        </p:nvSpPr>
        <p:spPr>
          <a:xfrm>
            <a:off x="365760" y="268833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Shape 16"/>
          <p:cNvSpPr/>
          <p:nvPr/>
        </p:nvSpPr>
        <p:spPr>
          <a:xfrm>
            <a:off x="548640" y="3054096"/>
            <a:ext cx="0" cy="237744"/>
          </a:xfrm>
          <a:prstGeom prst="line">
            <a:avLst/>
          </a:prstGeom>
          <a:noFill/>
          <a:ln w="19050">
            <a:solidFill>
              <a:srgbClr val="C0D8E4"/>
            </a:solidFill>
            <a:prstDash val="solid"/>
          </a:ln>
        </p:spPr>
        <p:txBody>
          <a:bodyPr/>
          <a:lstStyle/>
          <a:p>
            <a:endParaRPr lang="en-US"/>
          </a:p>
        </p:txBody>
      </p:sp>
      <p:sp>
        <p:nvSpPr>
          <p:cNvPr id="19" name="Text 17"/>
          <p:cNvSpPr/>
          <p:nvPr/>
        </p:nvSpPr>
        <p:spPr>
          <a:xfrm>
            <a:off x="868680" y="2706624"/>
            <a:ext cx="4663440" cy="329184"/>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app.authenticate hook fires → req.jwtVerify() called → jwks-rsa fetches Keycloak's public key (cached 10 min).</a:t>
            </a:r>
            <a:endParaRPr lang="en-US" sz="1200" dirty="0"/>
          </a:p>
        </p:txBody>
      </p:sp>
      <p:sp>
        <p:nvSpPr>
          <p:cNvPr id="20" name="Shape 18"/>
          <p:cNvSpPr/>
          <p:nvPr/>
        </p:nvSpPr>
        <p:spPr>
          <a:xfrm>
            <a:off x="365760" y="3255264"/>
            <a:ext cx="365760" cy="365760"/>
          </a:xfrm>
          <a:prstGeom prst="ellipse">
            <a:avLst/>
          </a:prstGeom>
          <a:solidFill>
            <a:srgbClr val="065A82"/>
          </a:solidFill>
          <a:ln w="12700">
            <a:solidFill>
              <a:srgbClr val="AACFE0"/>
            </a:solidFill>
            <a:prstDash val="solid"/>
          </a:ln>
        </p:spPr>
        <p:txBody>
          <a:bodyPr/>
          <a:lstStyle/>
          <a:p>
            <a:endParaRPr lang="en-US"/>
          </a:p>
        </p:txBody>
      </p:sp>
      <p:sp>
        <p:nvSpPr>
          <p:cNvPr id="21" name="Text 19"/>
          <p:cNvSpPr/>
          <p:nvPr/>
        </p:nvSpPr>
        <p:spPr>
          <a:xfrm>
            <a:off x="365760" y="3255264"/>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2" name="Shape 20"/>
          <p:cNvSpPr/>
          <p:nvPr/>
        </p:nvSpPr>
        <p:spPr>
          <a:xfrm>
            <a:off x="548640" y="3621024"/>
            <a:ext cx="0" cy="237744"/>
          </a:xfrm>
          <a:prstGeom prst="line">
            <a:avLst/>
          </a:prstGeom>
          <a:noFill/>
          <a:ln w="19050">
            <a:solidFill>
              <a:srgbClr val="C0D8E4"/>
            </a:solidFill>
            <a:prstDash val="solid"/>
          </a:ln>
        </p:spPr>
        <p:txBody>
          <a:bodyPr/>
          <a:lstStyle/>
          <a:p>
            <a:endParaRPr lang="en-US"/>
          </a:p>
        </p:txBody>
      </p:sp>
      <p:sp>
        <p:nvSpPr>
          <p:cNvPr id="23" name="Text 21"/>
          <p:cNvSpPr/>
          <p:nvPr/>
        </p:nvSpPr>
        <p:spPr>
          <a:xfrm>
            <a:off x="868680" y="3273552"/>
            <a:ext cx="4663440" cy="329184"/>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JWT signature, issuer, and expiry are verified — no database call needed on every request.</a:t>
            </a:r>
            <a:endParaRPr lang="en-US" sz="1200" dirty="0"/>
          </a:p>
        </p:txBody>
      </p:sp>
      <p:sp>
        <p:nvSpPr>
          <p:cNvPr id="24" name="Shape 22"/>
          <p:cNvSpPr/>
          <p:nvPr/>
        </p:nvSpPr>
        <p:spPr>
          <a:xfrm>
            <a:off x="365760" y="3822192"/>
            <a:ext cx="365760" cy="365760"/>
          </a:xfrm>
          <a:prstGeom prst="ellipse">
            <a:avLst/>
          </a:prstGeom>
          <a:solidFill>
            <a:srgbClr val="02C39A"/>
          </a:solidFill>
          <a:ln w="12700">
            <a:solidFill>
              <a:srgbClr val="AACFE0"/>
            </a:solidFill>
            <a:prstDash val="solid"/>
          </a:ln>
        </p:spPr>
        <p:txBody>
          <a:bodyPr/>
          <a:lstStyle/>
          <a:p>
            <a:endParaRPr lang="en-US"/>
          </a:p>
        </p:txBody>
      </p:sp>
      <p:sp>
        <p:nvSpPr>
          <p:cNvPr id="25" name="Text 23"/>
          <p:cNvSpPr/>
          <p:nvPr/>
        </p:nvSpPr>
        <p:spPr>
          <a:xfrm>
            <a:off x="365760" y="382219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Shape 24"/>
          <p:cNvSpPr/>
          <p:nvPr/>
        </p:nvSpPr>
        <p:spPr>
          <a:xfrm>
            <a:off x="548640" y="4187952"/>
            <a:ext cx="0" cy="237744"/>
          </a:xfrm>
          <a:prstGeom prst="line">
            <a:avLst/>
          </a:prstGeom>
          <a:noFill/>
          <a:ln w="19050">
            <a:solidFill>
              <a:srgbClr val="C0D8E4"/>
            </a:solidFill>
            <a:prstDash val="solid"/>
          </a:ln>
        </p:spPr>
        <p:txBody>
          <a:bodyPr/>
          <a:lstStyle/>
          <a:p>
            <a:endParaRPr lang="en-US"/>
          </a:p>
        </p:txBody>
      </p:sp>
      <p:sp>
        <p:nvSpPr>
          <p:cNvPr id="27" name="Text 25"/>
          <p:cNvSpPr/>
          <p:nvPr/>
        </p:nvSpPr>
        <p:spPr>
          <a:xfrm>
            <a:off x="868680" y="3840480"/>
            <a:ext cx="4663440" cy="329184"/>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formatUser() maps Keycloak claims → AuthUser { id, username, email, roles }.</a:t>
            </a:r>
            <a:endParaRPr lang="en-US" sz="1200" dirty="0"/>
          </a:p>
        </p:txBody>
      </p:sp>
      <p:sp>
        <p:nvSpPr>
          <p:cNvPr id="28" name="Shape 26"/>
          <p:cNvSpPr/>
          <p:nvPr/>
        </p:nvSpPr>
        <p:spPr>
          <a:xfrm>
            <a:off x="365760" y="4389120"/>
            <a:ext cx="365760" cy="365760"/>
          </a:xfrm>
          <a:prstGeom prst="ellipse">
            <a:avLst/>
          </a:prstGeom>
          <a:solidFill>
            <a:srgbClr val="02C39A"/>
          </a:solidFill>
          <a:ln w="12700">
            <a:solidFill>
              <a:srgbClr val="AACFE0"/>
            </a:solidFill>
            <a:prstDash val="solid"/>
          </a:ln>
        </p:spPr>
        <p:txBody>
          <a:bodyPr/>
          <a:lstStyle/>
          <a:p>
            <a:endParaRPr lang="en-US"/>
          </a:p>
        </p:txBody>
      </p:sp>
      <p:sp>
        <p:nvSpPr>
          <p:cNvPr id="29" name="Text 27"/>
          <p:cNvSpPr/>
          <p:nvPr/>
        </p:nvSpPr>
        <p:spPr>
          <a:xfrm>
            <a:off x="365760" y="43891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0" name="Text 28"/>
          <p:cNvSpPr/>
          <p:nvPr/>
        </p:nvSpPr>
        <p:spPr>
          <a:xfrm>
            <a:off x="868680" y="4407408"/>
            <a:ext cx="4663440" cy="329184"/>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app.authorize(['branch_manager']) decorator checks roles before route handler runs.</a:t>
            </a:r>
            <a:endParaRPr lang="en-US" sz="1200" dirty="0"/>
          </a:p>
        </p:txBody>
      </p:sp>
      <p:sp>
        <p:nvSpPr>
          <p:cNvPr id="31" name="Shape 29"/>
          <p:cNvSpPr/>
          <p:nvPr/>
        </p:nvSpPr>
        <p:spPr>
          <a:xfrm>
            <a:off x="5669280" y="960120"/>
            <a:ext cx="3200400" cy="1463040"/>
          </a:xfrm>
          <a:prstGeom prst="rect">
            <a:avLst/>
          </a:prstGeom>
          <a:solidFill>
            <a:srgbClr val="E6FBF5"/>
          </a:solidFill>
          <a:ln w="6350">
            <a:solidFill>
              <a:srgbClr val="E2E8F0"/>
            </a:solidFill>
            <a:prstDash val="solid"/>
          </a:ln>
          <a:effectLst>
            <a:outerShdw blurRad="76200" dist="25400" dir="8100000" algn="bl" rotWithShape="0">
              <a:srgbClr val="000000">
                <a:alpha val="8000"/>
              </a:srgbClr>
            </a:outerShdw>
          </a:effectLst>
        </p:spPr>
        <p:txBody>
          <a:bodyPr/>
          <a:lstStyle/>
          <a:p>
            <a:endParaRPr lang="en-US"/>
          </a:p>
        </p:txBody>
      </p:sp>
      <p:sp>
        <p:nvSpPr>
          <p:cNvPr id="32" name="Shape 30"/>
          <p:cNvSpPr/>
          <p:nvPr/>
        </p:nvSpPr>
        <p:spPr>
          <a:xfrm>
            <a:off x="5669280" y="960120"/>
            <a:ext cx="64008" cy="1463040"/>
          </a:xfrm>
          <a:prstGeom prst="rect">
            <a:avLst/>
          </a:prstGeom>
          <a:solidFill>
            <a:srgbClr val="02C39A"/>
          </a:solidFill>
          <a:ln w="12700">
            <a:solidFill>
              <a:srgbClr val="02C39A"/>
            </a:solidFill>
            <a:prstDash val="solid"/>
          </a:ln>
        </p:spPr>
        <p:txBody>
          <a:bodyPr/>
          <a:lstStyle/>
          <a:p>
            <a:endParaRPr lang="en-US"/>
          </a:p>
        </p:txBody>
      </p:sp>
      <p:sp>
        <p:nvSpPr>
          <p:cNvPr id="33" name="Text 31"/>
          <p:cNvSpPr/>
          <p:nvPr/>
        </p:nvSpPr>
        <p:spPr>
          <a:xfrm>
            <a:off x="5852160" y="1024128"/>
            <a:ext cx="2834640" cy="256032"/>
          </a:xfrm>
          <a:prstGeom prst="rect">
            <a:avLst/>
          </a:prstGeom>
          <a:noFill/>
          <a:ln/>
        </p:spPr>
        <p:txBody>
          <a:bodyPr wrap="square" lIns="0" tIns="0" rIns="0" bIns="0" rtlCol="0" anchor="ctr"/>
          <a:lstStyle/>
          <a:p>
            <a:pPr marL="0" indent="0">
              <a:buNone/>
            </a:pPr>
            <a:r>
              <a:rPr lang="en-US" sz="1100" b="1" dirty="0">
                <a:solidFill>
                  <a:srgbClr val="065A82"/>
                </a:solidFill>
                <a:latin typeface="Calibri" pitchFamily="34" charset="0"/>
                <a:ea typeface="Calibri" pitchFamily="34" charset="-122"/>
                <a:cs typeface="Calibri" pitchFamily="34" charset="-120"/>
              </a:rPr>
              <a:t>JWT Payload contains:</a:t>
            </a:r>
            <a:endParaRPr lang="en-US" sz="1100" dirty="0"/>
          </a:p>
        </p:txBody>
      </p:sp>
      <p:sp>
        <p:nvSpPr>
          <p:cNvPr id="34" name="Text 32"/>
          <p:cNvSpPr/>
          <p:nvPr/>
        </p:nvSpPr>
        <p:spPr>
          <a:xfrm>
            <a:off x="5852160" y="1298448"/>
            <a:ext cx="2834640" cy="9601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preferred_username  →  your username</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realm_access.roles  →  assigned roles</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exp  →  expiry (~15 min from login)</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iss  →  Keycloak realm URL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7FB"/>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48640"/>
          </a:xfrm>
          <a:prstGeom prst="rect">
            <a:avLst/>
          </a:prstGeom>
          <a:noFill/>
          <a:ln/>
        </p:spPr>
        <p:txBody>
          <a:bodyPr wrap="square" lIns="0" tIns="0" rIns="0" bIns="0" rtlCol="0" anchor="ctr"/>
          <a:lstStyle/>
          <a:p>
            <a:pPr marL="0" indent="0">
              <a:buNone/>
            </a:pPr>
            <a:r>
              <a:rPr lang="en-US" sz="2600" b="1" dirty="0">
                <a:solidFill>
                  <a:srgbClr val="065A82"/>
                </a:solidFill>
                <a:latin typeface="Georgia" pitchFamily="34" charset="0"/>
                <a:ea typeface="Georgia" pitchFamily="34" charset="-122"/>
                <a:cs typeface="Georgia" pitchFamily="34" charset="-120"/>
              </a:rPr>
              <a:t>API Gateway: The Brain of the System</a:t>
            </a:r>
            <a:endParaRPr lang="en-US" sz="2600" dirty="0"/>
          </a:p>
        </p:txBody>
      </p:sp>
      <p:sp>
        <p:nvSpPr>
          <p:cNvPr id="3" name="Shape 1"/>
          <p:cNvSpPr/>
          <p:nvPr/>
        </p:nvSpPr>
        <p:spPr>
          <a:xfrm>
            <a:off x="365760" y="749808"/>
            <a:ext cx="1097280" cy="45720"/>
          </a:xfrm>
          <a:prstGeom prst="rect">
            <a:avLst/>
          </a:prstGeom>
          <a:solidFill>
            <a:srgbClr val="02C39A"/>
          </a:solidFill>
          <a:ln w="12700">
            <a:solidFill>
              <a:srgbClr val="02C39A"/>
            </a:solidFill>
            <a:prstDash val="solid"/>
          </a:ln>
        </p:spPr>
        <p:txBody>
          <a:bodyPr/>
          <a:lstStyle/>
          <a:p>
            <a:endParaRPr lang="en-US"/>
          </a:p>
        </p:txBody>
      </p:sp>
      <p:sp>
        <p:nvSpPr>
          <p:cNvPr id="4" name="Shape 2"/>
          <p:cNvSpPr/>
          <p:nvPr/>
        </p:nvSpPr>
        <p:spPr>
          <a:xfrm>
            <a:off x="365760" y="960120"/>
            <a:ext cx="5212080" cy="3886200"/>
          </a:xfrm>
          <a:prstGeom prst="rect">
            <a:avLst/>
          </a:prstGeom>
          <a:solidFill>
            <a:srgbClr val="FFFFFF"/>
          </a:solidFill>
          <a:ln w="6350">
            <a:solidFill>
              <a:srgbClr val="E2E8F0"/>
            </a:solidFill>
            <a:prstDash val="solid"/>
          </a:ln>
          <a:effectLst>
            <a:outerShdw blurRad="76200" dist="25400" dir="8100000" algn="bl" rotWithShape="0">
              <a:srgbClr val="000000">
                <a:alpha val="8000"/>
              </a:srgbClr>
            </a:outerShdw>
          </a:effectLst>
        </p:spPr>
        <p:txBody>
          <a:bodyPr/>
          <a:lstStyle/>
          <a:p>
            <a:endParaRPr lang="en-US"/>
          </a:p>
        </p:txBody>
      </p:sp>
      <p:sp>
        <p:nvSpPr>
          <p:cNvPr id="5" name="Shape 3"/>
          <p:cNvSpPr/>
          <p:nvPr/>
        </p:nvSpPr>
        <p:spPr>
          <a:xfrm>
            <a:off x="365760" y="960120"/>
            <a:ext cx="64008" cy="3886200"/>
          </a:xfrm>
          <a:prstGeom prst="rect">
            <a:avLst/>
          </a:prstGeom>
          <a:solidFill>
            <a:srgbClr val="02C39A"/>
          </a:solidFill>
          <a:ln w="12700">
            <a:solidFill>
              <a:srgbClr val="02C39A"/>
            </a:solidFill>
            <a:prstDash val="solid"/>
          </a:ln>
        </p:spPr>
        <p:txBody>
          <a:bodyPr/>
          <a:lstStyle/>
          <a:p>
            <a:endParaRPr lang="en-US"/>
          </a:p>
        </p:txBody>
      </p:sp>
      <p:sp>
        <p:nvSpPr>
          <p:cNvPr id="6" name="Shape 4"/>
          <p:cNvSpPr/>
          <p:nvPr/>
        </p:nvSpPr>
        <p:spPr>
          <a:xfrm>
            <a:off x="365760" y="960120"/>
            <a:ext cx="5212080" cy="411480"/>
          </a:xfrm>
          <a:prstGeom prst="rect">
            <a:avLst/>
          </a:prstGeom>
          <a:solidFill>
            <a:srgbClr val="065A82"/>
          </a:solidFill>
          <a:ln w="12700">
            <a:solidFill>
              <a:srgbClr val="065A82"/>
            </a:solidFill>
            <a:prstDash val="solid"/>
          </a:ln>
        </p:spPr>
        <p:txBody>
          <a:bodyPr/>
          <a:lstStyle/>
          <a:p>
            <a:endParaRPr lang="en-US"/>
          </a:p>
        </p:txBody>
      </p:sp>
      <p:sp>
        <p:nvSpPr>
          <p:cNvPr id="7" name="Text 5"/>
          <p:cNvSpPr/>
          <p:nvPr/>
        </p:nvSpPr>
        <p:spPr>
          <a:xfrm>
            <a:off x="502920" y="1005840"/>
            <a:ext cx="2011680"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Route File</a:t>
            </a:r>
            <a:endParaRPr lang="en-US" sz="1100" dirty="0"/>
          </a:p>
        </p:txBody>
      </p:sp>
      <p:sp>
        <p:nvSpPr>
          <p:cNvPr id="8" name="Text 6"/>
          <p:cNvSpPr/>
          <p:nvPr/>
        </p:nvSpPr>
        <p:spPr>
          <a:xfrm>
            <a:off x="2606040" y="1005840"/>
            <a:ext cx="2834640" cy="310896"/>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Endpoints</a:t>
            </a:r>
            <a:endParaRPr lang="en-US" sz="1100" dirty="0"/>
          </a:p>
        </p:txBody>
      </p:sp>
      <p:sp>
        <p:nvSpPr>
          <p:cNvPr id="9" name="Shape 7"/>
          <p:cNvSpPr/>
          <p:nvPr/>
        </p:nvSpPr>
        <p:spPr>
          <a:xfrm>
            <a:off x="429768" y="1417320"/>
            <a:ext cx="5074920" cy="603504"/>
          </a:xfrm>
          <a:prstGeom prst="rect">
            <a:avLst/>
          </a:prstGeom>
          <a:solidFill>
            <a:srgbClr val="F8FAFC"/>
          </a:solidFill>
          <a:ln w="3810">
            <a:solidFill>
              <a:srgbClr val="E2E8F0"/>
            </a:solidFill>
            <a:prstDash val="solid"/>
          </a:ln>
        </p:spPr>
        <p:txBody>
          <a:bodyPr/>
          <a:lstStyle/>
          <a:p>
            <a:endParaRPr lang="en-US"/>
          </a:p>
        </p:txBody>
      </p:sp>
      <p:sp>
        <p:nvSpPr>
          <p:cNvPr id="10" name="Text 8"/>
          <p:cNvSpPr/>
          <p:nvPr/>
        </p:nvSpPr>
        <p:spPr>
          <a:xfrm>
            <a:off x="502920" y="1508760"/>
            <a:ext cx="2011680" cy="420624"/>
          </a:xfrm>
          <a:prstGeom prst="rect">
            <a:avLst/>
          </a:prstGeom>
          <a:noFill/>
          <a:ln/>
        </p:spPr>
        <p:txBody>
          <a:bodyPr wrap="square" lIns="0" tIns="0" rIns="0" bIns="0"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routes/auth.ts</a:t>
            </a:r>
            <a:endParaRPr lang="en-US" sz="1000" dirty="0"/>
          </a:p>
        </p:txBody>
      </p:sp>
      <p:sp>
        <p:nvSpPr>
          <p:cNvPr id="11" name="Text 9"/>
          <p:cNvSpPr/>
          <p:nvPr/>
        </p:nvSpPr>
        <p:spPr>
          <a:xfrm>
            <a:off x="2606040" y="1508760"/>
            <a:ext cx="2743200" cy="420624"/>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login, refresh, logout, /me</a:t>
            </a:r>
            <a:endParaRPr lang="en-US" sz="1000" dirty="0"/>
          </a:p>
        </p:txBody>
      </p:sp>
      <p:sp>
        <p:nvSpPr>
          <p:cNvPr id="12" name="Shape 10"/>
          <p:cNvSpPr/>
          <p:nvPr/>
        </p:nvSpPr>
        <p:spPr>
          <a:xfrm>
            <a:off x="429768" y="2075688"/>
            <a:ext cx="5074920" cy="603504"/>
          </a:xfrm>
          <a:prstGeom prst="rect">
            <a:avLst/>
          </a:prstGeom>
          <a:solidFill>
            <a:srgbClr val="FFFFFF"/>
          </a:solidFill>
          <a:ln w="3810">
            <a:solidFill>
              <a:srgbClr val="E2E8F0"/>
            </a:solidFill>
            <a:prstDash val="solid"/>
          </a:ln>
        </p:spPr>
        <p:txBody>
          <a:bodyPr/>
          <a:lstStyle/>
          <a:p>
            <a:endParaRPr lang="en-US"/>
          </a:p>
        </p:txBody>
      </p:sp>
      <p:sp>
        <p:nvSpPr>
          <p:cNvPr id="13" name="Text 11"/>
          <p:cNvSpPr/>
          <p:nvPr/>
        </p:nvSpPr>
        <p:spPr>
          <a:xfrm>
            <a:off x="502920" y="2167128"/>
            <a:ext cx="2011680" cy="420624"/>
          </a:xfrm>
          <a:prstGeom prst="rect">
            <a:avLst/>
          </a:prstGeom>
          <a:noFill/>
          <a:ln/>
        </p:spPr>
        <p:txBody>
          <a:bodyPr wrap="square" lIns="0" tIns="0" rIns="0" bIns="0"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routes/clients.ts</a:t>
            </a:r>
            <a:endParaRPr lang="en-US" sz="1000" dirty="0"/>
          </a:p>
        </p:txBody>
      </p:sp>
      <p:sp>
        <p:nvSpPr>
          <p:cNvPr id="14" name="Text 12"/>
          <p:cNvSpPr/>
          <p:nvPr/>
        </p:nvSpPr>
        <p:spPr>
          <a:xfrm>
            <a:off x="2606040" y="2167128"/>
            <a:ext cx="2743200" cy="420624"/>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list, get, create, update client</a:t>
            </a:r>
            <a:endParaRPr lang="en-US" sz="1000" dirty="0"/>
          </a:p>
        </p:txBody>
      </p:sp>
      <p:sp>
        <p:nvSpPr>
          <p:cNvPr id="15" name="Shape 13"/>
          <p:cNvSpPr/>
          <p:nvPr/>
        </p:nvSpPr>
        <p:spPr>
          <a:xfrm>
            <a:off x="429768" y="2734056"/>
            <a:ext cx="5074920" cy="603504"/>
          </a:xfrm>
          <a:prstGeom prst="rect">
            <a:avLst/>
          </a:prstGeom>
          <a:solidFill>
            <a:srgbClr val="F8FAFC"/>
          </a:solidFill>
          <a:ln w="3810">
            <a:solidFill>
              <a:srgbClr val="E2E8F0"/>
            </a:solidFill>
            <a:prstDash val="solid"/>
          </a:ln>
        </p:spPr>
        <p:txBody>
          <a:bodyPr/>
          <a:lstStyle/>
          <a:p>
            <a:endParaRPr lang="en-US"/>
          </a:p>
        </p:txBody>
      </p:sp>
      <p:sp>
        <p:nvSpPr>
          <p:cNvPr id="16" name="Text 14"/>
          <p:cNvSpPr/>
          <p:nvPr/>
        </p:nvSpPr>
        <p:spPr>
          <a:xfrm>
            <a:off x="502920" y="2825496"/>
            <a:ext cx="2011680" cy="420624"/>
          </a:xfrm>
          <a:prstGeom prst="rect">
            <a:avLst/>
          </a:prstGeom>
          <a:noFill/>
          <a:ln/>
        </p:spPr>
        <p:txBody>
          <a:bodyPr wrap="square" lIns="0" tIns="0" rIns="0" bIns="0"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routes/loans.ts</a:t>
            </a:r>
            <a:endParaRPr lang="en-US" sz="1000" dirty="0"/>
          </a:p>
        </p:txBody>
      </p:sp>
      <p:sp>
        <p:nvSpPr>
          <p:cNvPr id="17" name="Text 15"/>
          <p:cNvSpPr/>
          <p:nvPr/>
        </p:nvSpPr>
        <p:spPr>
          <a:xfrm>
            <a:off x="2606040" y="2825496"/>
            <a:ext cx="2743200" cy="420624"/>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list, detail, repay, approve / disburse / reject</a:t>
            </a:r>
            <a:endParaRPr lang="en-US" sz="1000" dirty="0"/>
          </a:p>
        </p:txBody>
      </p:sp>
      <p:sp>
        <p:nvSpPr>
          <p:cNvPr id="18" name="Shape 16"/>
          <p:cNvSpPr/>
          <p:nvPr/>
        </p:nvSpPr>
        <p:spPr>
          <a:xfrm>
            <a:off x="429768" y="3392424"/>
            <a:ext cx="5074920" cy="603504"/>
          </a:xfrm>
          <a:prstGeom prst="rect">
            <a:avLst/>
          </a:prstGeom>
          <a:solidFill>
            <a:srgbClr val="FFFFFF"/>
          </a:solidFill>
          <a:ln w="3810">
            <a:solidFill>
              <a:srgbClr val="E2E8F0"/>
            </a:solidFill>
            <a:prstDash val="solid"/>
          </a:ln>
        </p:spPr>
        <p:txBody>
          <a:bodyPr/>
          <a:lstStyle/>
          <a:p>
            <a:endParaRPr lang="en-US"/>
          </a:p>
        </p:txBody>
      </p:sp>
      <p:sp>
        <p:nvSpPr>
          <p:cNvPr id="19" name="Text 17"/>
          <p:cNvSpPr/>
          <p:nvPr/>
        </p:nvSpPr>
        <p:spPr>
          <a:xfrm>
            <a:off x="502920" y="3483864"/>
            <a:ext cx="2011680" cy="420624"/>
          </a:xfrm>
          <a:prstGeom prst="rect">
            <a:avLst/>
          </a:prstGeom>
          <a:noFill/>
          <a:ln/>
        </p:spPr>
        <p:txBody>
          <a:bodyPr wrap="square" lIns="0" tIns="0" rIns="0" bIns="0"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routes/payments.ts</a:t>
            </a:r>
            <a:endParaRPr lang="en-US" sz="1000" dirty="0"/>
          </a:p>
        </p:txBody>
      </p:sp>
      <p:sp>
        <p:nvSpPr>
          <p:cNvPr id="20" name="Text 18"/>
          <p:cNvSpPr/>
          <p:nvPr/>
        </p:nvSpPr>
        <p:spPr>
          <a:xfrm>
            <a:off x="2606040" y="3483864"/>
            <a:ext cx="2743200" cy="420624"/>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initiate KBZ Pay order (out of scope wk1)</a:t>
            </a:r>
            <a:endParaRPr lang="en-US" sz="1000" dirty="0"/>
          </a:p>
        </p:txBody>
      </p:sp>
      <p:sp>
        <p:nvSpPr>
          <p:cNvPr id="21" name="Shape 19"/>
          <p:cNvSpPr/>
          <p:nvPr/>
        </p:nvSpPr>
        <p:spPr>
          <a:xfrm>
            <a:off x="429768" y="4050792"/>
            <a:ext cx="5074920" cy="603504"/>
          </a:xfrm>
          <a:prstGeom prst="rect">
            <a:avLst/>
          </a:prstGeom>
          <a:solidFill>
            <a:srgbClr val="F8FAFC"/>
          </a:solidFill>
          <a:ln w="3810">
            <a:solidFill>
              <a:srgbClr val="E2E8F0"/>
            </a:solidFill>
            <a:prstDash val="solid"/>
          </a:ln>
        </p:spPr>
        <p:txBody>
          <a:bodyPr/>
          <a:lstStyle/>
          <a:p>
            <a:endParaRPr lang="en-US"/>
          </a:p>
        </p:txBody>
      </p:sp>
      <p:sp>
        <p:nvSpPr>
          <p:cNvPr id="22" name="Text 20"/>
          <p:cNvSpPr/>
          <p:nvPr/>
        </p:nvSpPr>
        <p:spPr>
          <a:xfrm>
            <a:off x="502920" y="4142232"/>
            <a:ext cx="2011680" cy="420624"/>
          </a:xfrm>
          <a:prstGeom prst="rect">
            <a:avLst/>
          </a:prstGeom>
          <a:noFill/>
          <a:ln/>
        </p:spPr>
        <p:txBody>
          <a:bodyPr wrap="square" lIns="0" tIns="0" rIns="0" bIns="0"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routes/dashboard.ts</a:t>
            </a:r>
            <a:endParaRPr lang="en-US" sz="1000" dirty="0"/>
          </a:p>
        </p:txBody>
      </p:sp>
      <p:sp>
        <p:nvSpPr>
          <p:cNvPr id="23" name="Text 21"/>
          <p:cNvSpPr/>
          <p:nvPr/>
        </p:nvSpPr>
        <p:spPr>
          <a:xfrm>
            <a:off x="2606040" y="4142232"/>
            <a:ext cx="2743200" cy="420624"/>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fan-out to reporting service → aggregate stats</a:t>
            </a:r>
            <a:endParaRPr lang="en-US" sz="1000" dirty="0"/>
          </a:p>
        </p:txBody>
      </p:sp>
      <p:sp>
        <p:nvSpPr>
          <p:cNvPr id="24" name="Shape 22"/>
          <p:cNvSpPr/>
          <p:nvPr/>
        </p:nvSpPr>
        <p:spPr>
          <a:xfrm>
            <a:off x="5852160" y="960120"/>
            <a:ext cx="2971800" cy="3886200"/>
          </a:xfrm>
          <a:prstGeom prst="rect">
            <a:avLst/>
          </a:prstGeom>
          <a:solidFill>
            <a:srgbClr val="FFFFFF"/>
          </a:solidFill>
          <a:ln w="6350">
            <a:solidFill>
              <a:srgbClr val="E2E8F0"/>
            </a:solidFill>
            <a:prstDash val="solid"/>
          </a:ln>
          <a:effectLst>
            <a:outerShdw blurRad="76200" dist="25400" dir="8100000" algn="bl" rotWithShape="0">
              <a:srgbClr val="000000">
                <a:alpha val="8000"/>
              </a:srgbClr>
            </a:outerShdw>
          </a:effectLst>
        </p:spPr>
        <p:txBody>
          <a:bodyPr/>
          <a:lstStyle/>
          <a:p>
            <a:endParaRPr lang="en-US"/>
          </a:p>
        </p:txBody>
      </p:sp>
      <p:sp>
        <p:nvSpPr>
          <p:cNvPr id="25" name="Shape 23"/>
          <p:cNvSpPr/>
          <p:nvPr/>
        </p:nvSpPr>
        <p:spPr>
          <a:xfrm>
            <a:off x="5852160" y="960120"/>
            <a:ext cx="64008" cy="3886200"/>
          </a:xfrm>
          <a:prstGeom prst="rect">
            <a:avLst/>
          </a:prstGeom>
          <a:solidFill>
            <a:srgbClr val="1C7293"/>
          </a:solidFill>
          <a:ln w="12700">
            <a:solidFill>
              <a:srgbClr val="1C7293"/>
            </a:solidFill>
            <a:prstDash val="solid"/>
          </a:ln>
        </p:spPr>
        <p:txBody>
          <a:bodyPr/>
          <a:lstStyle/>
          <a:p>
            <a:endParaRPr lang="en-US"/>
          </a:p>
        </p:txBody>
      </p:sp>
      <p:sp>
        <p:nvSpPr>
          <p:cNvPr id="26" name="Shape 24"/>
          <p:cNvSpPr/>
          <p:nvPr/>
        </p:nvSpPr>
        <p:spPr>
          <a:xfrm>
            <a:off x="5852160" y="960120"/>
            <a:ext cx="2971800" cy="411480"/>
          </a:xfrm>
          <a:prstGeom prst="rect">
            <a:avLst/>
          </a:prstGeom>
          <a:solidFill>
            <a:srgbClr val="1C7293"/>
          </a:solidFill>
          <a:ln w="12700">
            <a:solidFill>
              <a:srgbClr val="1C7293"/>
            </a:solidFill>
            <a:prstDash val="solid"/>
          </a:ln>
        </p:spPr>
        <p:txBody>
          <a:bodyPr/>
          <a:lstStyle/>
          <a:p>
            <a:endParaRPr lang="en-US"/>
          </a:p>
        </p:txBody>
      </p:sp>
      <p:sp>
        <p:nvSpPr>
          <p:cNvPr id="27" name="Text 25"/>
          <p:cNvSpPr/>
          <p:nvPr/>
        </p:nvSpPr>
        <p:spPr>
          <a:xfrm>
            <a:off x="5989320" y="1005840"/>
            <a:ext cx="269748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RBAC Roles</a:t>
            </a:r>
            <a:endParaRPr lang="en-US" sz="1200" dirty="0"/>
          </a:p>
        </p:txBody>
      </p:sp>
      <p:sp>
        <p:nvSpPr>
          <p:cNvPr id="28" name="Shape 26"/>
          <p:cNvSpPr/>
          <p:nvPr/>
        </p:nvSpPr>
        <p:spPr>
          <a:xfrm>
            <a:off x="5916168" y="1444752"/>
            <a:ext cx="2834640" cy="621792"/>
          </a:xfrm>
          <a:prstGeom prst="rect">
            <a:avLst/>
          </a:prstGeom>
          <a:solidFill>
            <a:srgbClr val="F0F7FF"/>
          </a:solidFill>
          <a:ln w="3810">
            <a:solidFill>
              <a:srgbClr val="E2E8F0"/>
            </a:solidFill>
            <a:prstDash val="solid"/>
          </a:ln>
        </p:spPr>
        <p:txBody>
          <a:bodyPr/>
          <a:lstStyle/>
          <a:p>
            <a:endParaRPr lang="en-US"/>
          </a:p>
        </p:txBody>
      </p:sp>
      <p:sp>
        <p:nvSpPr>
          <p:cNvPr id="29" name="Text 27"/>
          <p:cNvSpPr/>
          <p:nvPr/>
        </p:nvSpPr>
        <p:spPr>
          <a:xfrm>
            <a:off x="6016752" y="1481328"/>
            <a:ext cx="2743200" cy="256032"/>
          </a:xfrm>
          <a:prstGeom prst="rect">
            <a:avLst/>
          </a:prstGeom>
          <a:noFill/>
          <a:ln/>
        </p:spPr>
        <p:txBody>
          <a:bodyPr wrap="square" lIns="0" tIns="0" rIns="0" bIns="0"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super_admin</a:t>
            </a:r>
            <a:endParaRPr lang="en-US" sz="1000" dirty="0"/>
          </a:p>
        </p:txBody>
      </p:sp>
      <p:sp>
        <p:nvSpPr>
          <p:cNvPr id="30" name="Text 28"/>
          <p:cNvSpPr/>
          <p:nvPr/>
        </p:nvSpPr>
        <p:spPr>
          <a:xfrm>
            <a:off x="6016752" y="1755648"/>
            <a:ext cx="2743200" cy="2286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Full access</a:t>
            </a:r>
            <a:endParaRPr lang="en-US" sz="950" dirty="0"/>
          </a:p>
        </p:txBody>
      </p:sp>
      <p:sp>
        <p:nvSpPr>
          <p:cNvPr id="31" name="Shape 29"/>
          <p:cNvSpPr/>
          <p:nvPr/>
        </p:nvSpPr>
        <p:spPr>
          <a:xfrm>
            <a:off x="5916168" y="2130552"/>
            <a:ext cx="2834640" cy="621792"/>
          </a:xfrm>
          <a:prstGeom prst="rect">
            <a:avLst/>
          </a:prstGeom>
          <a:solidFill>
            <a:srgbClr val="FFFFFF"/>
          </a:solidFill>
          <a:ln w="3810">
            <a:solidFill>
              <a:srgbClr val="E2E8F0"/>
            </a:solidFill>
            <a:prstDash val="solid"/>
          </a:ln>
        </p:spPr>
        <p:txBody>
          <a:bodyPr/>
          <a:lstStyle/>
          <a:p>
            <a:endParaRPr lang="en-US"/>
          </a:p>
        </p:txBody>
      </p:sp>
      <p:sp>
        <p:nvSpPr>
          <p:cNvPr id="32" name="Text 30"/>
          <p:cNvSpPr/>
          <p:nvPr/>
        </p:nvSpPr>
        <p:spPr>
          <a:xfrm>
            <a:off x="6016752" y="2167128"/>
            <a:ext cx="2743200" cy="256032"/>
          </a:xfrm>
          <a:prstGeom prst="rect">
            <a:avLst/>
          </a:prstGeom>
          <a:noFill/>
          <a:ln/>
        </p:spPr>
        <p:txBody>
          <a:bodyPr wrap="square" lIns="0" tIns="0" rIns="0" bIns="0"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branch_manager</a:t>
            </a:r>
            <a:endParaRPr lang="en-US" sz="1000" dirty="0"/>
          </a:p>
        </p:txBody>
      </p:sp>
      <p:sp>
        <p:nvSpPr>
          <p:cNvPr id="33" name="Text 31"/>
          <p:cNvSpPr/>
          <p:nvPr/>
        </p:nvSpPr>
        <p:spPr>
          <a:xfrm>
            <a:off x="6016752" y="2441448"/>
            <a:ext cx="2743200" cy="2286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Approve / reject / disburse loans</a:t>
            </a:r>
            <a:endParaRPr lang="en-US" sz="950" dirty="0"/>
          </a:p>
        </p:txBody>
      </p:sp>
      <p:sp>
        <p:nvSpPr>
          <p:cNvPr id="34" name="Shape 32"/>
          <p:cNvSpPr/>
          <p:nvPr/>
        </p:nvSpPr>
        <p:spPr>
          <a:xfrm>
            <a:off x="5916168" y="2816352"/>
            <a:ext cx="2834640" cy="621792"/>
          </a:xfrm>
          <a:prstGeom prst="rect">
            <a:avLst/>
          </a:prstGeom>
          <a:solidFill>
            <a:srgbClr val="F0F7FF"/>
          </a:solidFill>
          <a:ln w="3810">
            <a:solidFill>
              <a:srgbClr val="E2E8F0"/>
            </a:solidFill>
            <a:prstDash val="solid"/>
          </a:ln>
        </p:spPr>
        <p:txBody>
          <a:bodyPr/>
          <a:lstStyle/>
          <a:p>
            <a:endParaRPr lang="en-US"/>
          </a:p>
        </p:txBody>
      </p:sp>
      <p:sp>
        <p:nvSpPr>
          <p:cNvPr id="35" name="Text 33"/>
          <p:cNvSpPr/>
          <p:nvPr/>
        </p:nvSpPr>
        <p:spPr>
          <a:xfrm>
            <a:off x="6016752" y="2852928"/>
            <a:ext cx="2743200" cy="256032"/>
          </a:xfrm>
          <a:prstGeom prst="rect">
            <a:avLst/>
          </a:prstGeom>
          <a:noFill/>
          <a:ln/>
        </p:spPr>
        <p:txBody>
          <a:bodyPr wrap="square" lIns="0" tIns="0" rIns="0" bIns="0"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loan_officer</a:t>
            </a:r>
            <a:endParaRPr lang="en-US" sz="1000" dirty="0"/>
          </a:p>
        </p:txBody>
      </p:sp>
      <p:sp>
        <p:nvSpPr>
          <p:cNvPr id="36" name="Text 34"/>
          <p:cNvSpPr/>
          <p:nvPr/>
        </p:nvSpPr>
        <p:spPr>
          <a:xfrm>
            <a:off x="6016752" y="3127248"/>
            <a:ext cx="2743200" cy="2286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Register clients, originate loans</a:t>
            </a:r>
            <a:endParaRPr lang="en-US" sz="950" dirty="0"/>
          </a:p>
        </p:txBody>
      </p:sp>
      <p:sp>
        <p:nvSpPr>
          <p:cNvPr id="37" name="Shape 35"/>
          <p:cNvSpPr/>
          <p:nvPr/>
        </p:nvSpPr>
        <p:spPr>
          <a:xfrm>
            <a:off x="5916168" y="3502152"/>
            <a:ext cx="2834640" cy="621792"/>
          </a:xfrm>
          <a:prstGeom prst="rect">
            <a:avLst/>
          </a:prstGeom>
          <a:solidFill>
            <a:srgbClr val="FFFFFF"/>
          </a:solidFill>
          <a:ln w="3810">
            <a:solidFill>
              <a:srgbClr val="E2E8F0"/>
            </a:solidFill>
            <a:prstDash val="solid"/>
          </a:ln>
        </p:spPr>
        <p:txBody>
          <a:bodyPr/>
          <a:lstStyle/>
          <a:p>
            <a:endParaRPr lang="en-US"/>
          </a:p>
        </p:txBody>
      </p:sp>
      <p:sp>
        <p:nvSpPr>
          <p:cNvPr id="38" name="Text 36"/>
          <p:cNvSpPr/>
          <p:nvPr/>
        </p:nvSpPr>
        <p:spPr>
          <a:xfrm>
            <a:off x="6016752" y="3538728"/>
            <a:ext cx="2743200" cy="256032"/>
          </a:xfrm>
          <a:prstGeom prst="rect">
            <a:avLst/>
          </a:prstGeom>
          <a:noFill/>
          <a:ln/>
        </p:spPr>
        <p:txBody>
          <a:bodyPr wrap="square" lIns="0" tIns="0" rIns="0" bIns="0"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teller</a:t>
            </a:r>
            <a:endParaRPr lang="en-US" sz="1000" dirty="0"/>
          </a:p>
        </p:txBody>
      </p:sp>
      <p:sp>
        <p:nvSpPr>
          <p:cNvPr id="39" name="Text 37"/>
          <p:cNvSpPr/>
          <p:nvPr/>
        </p:nvSpPr>
        <p:spPr>
          <a:xfrm>
            <a:off x="6016752" y="3813048"/>
            <a:ext cx="2743200" cy="2286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Collect repayments only</a:t>
            </a:r>
            <a:endParaRPr lang="en-US" sz="950" dirty="0"/>
          </a:p>
        </p:txBody>
      </p:sp>
      <p:sp>
        <p:nvSpPr>
          <p:cNvPr id="40" name="Shape 38"/>
          <p:cNvSpPr/>
          <p:nvPr/>
        </p:nvSpPr>
        <p:spPr>
          <a:xfrm>
            <a:off x="5916168" y="4187952"/>
            <a:ext cx="2834640" cy="621792"/>
          </a:xfrm>
          <a:prstGeom prst="rect">
            <a:avLst/>
          </a:prstGeom>
          <a:solidFill>
            <a:srgbClr val="F0F7FF"/>
          </a:solidFill>
          <a:ln w="3810">
            <a:solidFill>
              <a:srgbClr val="E2E8F0"/>
            </a:solidFill>
            <a:prstDash val="solid"/>
          </a:ln>
        </p:spPr>
        <p:txBody>
          <a:bodyPr/>
          <a:lstStyle/>
          <a:p>
            <a:endParaRPr lang="en-US"/>
          </a:p>
        </p:txBody>
      </p:sp>
      <p:sp>
        <p:nvSpPr>
          <p:cNvPr id="41" name="Text 39"/>
          <p:cNvSpPr/>
          <p:nvPr/>
        </p:nvSpPr>
        <p:spPr>
          <a:xfrm>
            <a:off x="6016752" y="4224528"/>
            <a:ext cx="2743200" cy="256032"/>
          </a:xfrm>
          <a:prstGeom prst="rect">
            <a:avLst/>
          </a:prstGeom>
          <a:noFill/>
          <a:ln/>
        </p:spPr>
        <p:txBody>
          <a:bodyPr wrap="square" lIns="0" tIns="0" rIns="0" bIns="0" rtlCol="0" anchor="ctr"/>
          <a:lstStyle/>
          <a:p>
            <a:pPr marL="0" indent="0">
              <a:buNone/>
            </a:pPr>
            <a:r>
              <a:rPr lang="en-US" sz="1000" b="1" dirty="0">
                <a:solidFill>
                  <a:srgbClr val="065A82"/>
                </a:solidFill>
                <a:latin typeface="Calibri" pitchFamily="34" charset="0"/>
                <a:ea typeface="Calibri" pitchFamily="34" charset="-122"/>
                <a:cs typeface="Calibri" pitchFamily="34" charset="-120"/>
              </a:rPr>
              <a:t>customer</a:t>
            </a:r>
            <a:endParaRPr lang="en-US" sz="1000" dirty="0"/>
          </a:p>
        </p:txBody>
      </p:sp>
      <p:sp>
        <p:nvSpPr>
          <p:cNvPr id="42" name="Text 40"/>
          <p:cNvSpPr/>
          <p:nvPr/>
        </p:nvSpPr>
        <p:spPr>
          <a:xfrm>
            <a:off x="6016752" y="4498848"/>
            <a:ext cx="2743200" cy="22860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Mobile self-service (future)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7FB"/>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548640"/>
          </a:xfrm>
          <a:prstGeom prst="rect">
            <a:avLst/>
          </a:prstGeom>
          <a:noFill/>
          <a:ln/>
        </p:spPr>
        <p:txBody>
          <a:bodyPr wrap="square" lIns="0" tIns="0" rIns="0" bIns="0" rtlCol="0" anchor="ctr"/>
          <a:lstStyle/>
          <a:p>
            <a:pPr marL="0" indent="0">
              <a:buNone/>
            </a:pPr>
            <a:r>
              <a:rPr lang="en-US" sz="2600" b="1" dirty="0">
                <a:solidFill>
                  <a:srgbClr val="065A82"/>
                </a:solidFill>
                <a:latin typeface="Georgia" pitchFamily="34" charset="0"/>
                <a:ea typeface="Georgia" pitchFamily="34" charset="-122"/>
                <a:cs typeface="Georgia" pitchFamily="34" charset="-120"/>
              </a:rPr>
              <a:t>Supporting Services: KYC + Reporting</a:t>
            </a:r>
            <a:endParaRPr lang="en-US" sz="2600" dirty="0"/>
          </a:p>
        </p:txBody>
      </p:sp>
      <p:sp>
        <p:nvSpPr>
          <p:cNvPr id="3" name="Shape 1"/>
          <p:cNvSpPr/>
          <p:nvPr/>
        </p:nvSpPr>
        <p:spPr>
          <a:xfrm>
            <a:off x="365760" y="749808"/>
            <a:ext cx="1097280" cy="45720"/>
          </a:xfrm>
          <a:prstGeom prst="rect">
            <a:avLst/>
          </a:prstGeom>
          <a:solidFill>
            <a:srgbClr val="02C39A"/>
          </a:solidFill>
          <a:ln w="12700">
            <a:solidFill>
              <a:srgbClr val="02C39A"/>
            </a:solidFill>
            <a:prstDash val="solid"/>
          </a:ln>
        </p:spPr>
        <p:txBody>
          <a:bodyPr/>
          <a:lstStyle/>
          <a:p>
            <a:endParaRPr lang="en-US"/>
          </a:p>
        </p:txBody>
      </p:sp>
      <p:sp>
        <p:nvSpPr>
          <p:cNvPr id="4" name="Shape 2"/>
          <p:cNvSpPr/>
          <p:nvPr/>
        </p:nvSpPr>
        <p:spPr>
          <a:xfrm>
            <a:off x="365760" y="960120"/>
            <a:ext cx="4160520" cy="3931920"/>
          </a:xfrm>
          <a:prstGeom prst="rect">
            <a:avLst/>
          </a:prstGeom>
          <a:solidFill>
            <a:srgbClr val="FFFFFF"/>
          </a:solidFill>
          <a:ln w="6350">
            <a:solidFill>
              <a:srgbClr val="E2E8F0"/>
            </a:solidFill>
            <a:prstDash val="solid"/>
          </a:ln>
          <a:effectLst>
            <a:outerShdw blurRad="76200" dist="25400" dir="8100000" algn="bl" rotWithShape="0">
              <a:srgbClr val="000000">
                <a:alpha val="8000"/>
              </a:srgbClr>
            </a:outerShdw>
          </a:effectLst>
        </p:spPr>
        <p:txBody>
          <a:bodyPr/>
          <a:lstStyle/>
          <a:p>
            <a:endParaRPr lang="en-US"/>
          </a:p>
        </p:txBody>
      </p:sp>
      <p:sp>
        <p:nvSpPr>
          <p:cNvPr id="5" name="Shape 3"/>
          <p:cNvSpPr/>
          <p:nvPr/>
        </p:nvSpPr>
        <p:spPr>
          <a:xfrm>
            <a:off x="365760" y="960120"/>
            <a:ext cx="64008" cy="3931920"/>
          </a:xfrm>
          <a:prstGeom prst="rect">
            <a:avLst/>
          </a:prstGeom>
          <a:solidFill>
            <a:srgbClr val="065F46"/>
          </a:solidFill>
          <a:ln w="12700">
            <a:solidFill>
              <a:srgbClr val="065F46"/>
            </a:solidFill>
            <a:prstDash val="solid"/>
          </a:ln>
        </p:spPr>
        <p:txBody>
          <a:bodyPr/>
          <a:lstStyle/>
          <a:p>
            <a:endParaRPr lang="en-US"/>
          </a:p>
        </p:txBody>
      </p:sp>
      <p:sp>
        <p:nvSpPr>
          <p:cNvPr id="6" name="Shape 4"/>
          <p:cNvSpPr/>
          <p:nvPr/>
        </p:nvSpPr>
        <p:spPr>
          <a:xfrm>
            <a:off x="365760" y="960120"/>
            <a:ext cx="4160520" cy="411480"/>
          </a:xfrm>
          <a:prstGeom prst="rect">
            <a:avLst/>
          </a:prstGeom>
          <a:solidFill>
            <a:srgbClr val="065F46"/>
          </a:solidFill>
          <a:ln w="12700">
            <a:solidFill>
              <a:srgbClr val="065F46"/>
            </a:solidFill>
            <a:prstDash val="solid"/>
          </a:ln>
        </p:spPr>
        <p:txBody>
          <a:bodyPr/>
          <a:lstStyle/>
          <a:p>
            <a:endParaRPr lang="en-US"/>
          </a:p>
        </p:txBody>
      </p:sp>
      <p:sp>
        <p:nvSpPr>
          <p:cNvPr id="7" name="Text 5"/>
          <p:cNvSpPr/>
          <p:nvPr/>
        </p:nvSpPr>
        <p:spPr>
          <a:xfrm>
            <a:off x="530352" y="1005840"/>
            <a:ext cx="3840480" cy="310896"/>
          </a:xfrm>
          <a:prstGeom prst="rect">
            <a:avLst/>
          </a:prstGeom>
          <a:noFill/>
          <a:ln/>
        </p:spPr>
        <p:txBody>
          <a:bodyPr wrap="square" lIns="0" tIns="0" rIns="0" bIns="0" rtlCol="0" anchor="ctr"/>
          <a:lstStyle/>
          <a:p>
            <a:pPr marL="0" indent="0">
              <a:buNone/>
            </a:pPr>
            <a:r>
              <a:rPr lang="en-US" sz="1200" b="1" dirty="0">
                <a:solidFill>
                  <a:srgbClr val="FFFFFF"/>
                </a:solidFill>
                <a:latin typeface="Georgia" pitchFamily="34" charset="0"/>
                <a:ea typeface="Georgia" pitchFamily="34" charset="-122"/>
                <a:cs typeface="Georgia" pitchFamily="34" charset="-120"/>
              </a:rPr>
              <a:t>KYC Service — Pluggable Pattern</a:t>
            </a:r>
            <a:endParaRPr lang="en-US" sz="1200" dirty="0"/>
          </a:p>
        </p:txBody>
      </p:sp>
      <p:sp>
        <p:nvSpPr>
          <p:cNvPr id="8" name="Text 6"/>
          <p:cNvSpPr/>
          <p:nvPr/>
        </p:nvSpPr>
        <p:spPr>
          <a:xfrm>
            <a:off x="548640" y="1444752"/>
            <a:ext cx="3794760" cy="3291840"/>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KycProvider interface (4 methods):
</a:t>
            </a:r>
            <a:endParaRPr lang="en-US" sz="1100" dirty="0"/>
          </a:p>
          <a:p>
            <a:pPr marL="0" indent="0">
              <a:buNone/>
            </a:pPr>
            <a:r>
              <a:rPr lang="en-US" sz="1100" b="1" dirty="0">
                <a:solidFill>
                  <a:srgbClr val="1E293B"/>
                </a:solidFill>
                <a:latin typeface="Calibri" pitchFamily="34" charset="0"/>
                <a:ea typeface="Calibri" pitchFamily="34" charset="-122"/>
                <a:cs typeface="Calibri" pitchFamily="34" charset="-120"/>
              </a:rPr>
              <a:t>submit()         </a:t>
            </a:r>
            <a:r>
              <a:rPr lang="en-US" sz="1100" dirty="0">
                <a:solidFill>
                  <a:srgbClr val="1E293B"/>
                </a:solidFill>
                <a:latin typeface="Calibri" pitchFamily="34" charset="0"/>
                <a:ea typeface="Calibri" pitchFamily="34" charset="-122"/>
                <a:cs typeface="Calibri" pitchFamily="34" charset="-120"/>
              </a:rPr>
              <a:t>→ start verification
</a:t>
            </a:r>
            <a:r>
              <a:rPr lang="en-US" sz="1100" b="1" dirty="0">
                <a:solidFill>
                  <a:srgbClr val="1E293B"/>
                </a:solidFill>
                <a:latin typeface="Calibri" pitchFamily="34" charset="0"/>
                <a:ea typeface="Calibri" pitchFamily="34" charset="-122"/>
                <a:cs typeface="Calibri" pitchFamily="34" charset="-120"/>
              </a:rPr>
              <a:t>getStatus()    </a:t>
            </a:r>
            <a:r>
              <a:rPr lang="en-US" sz="1100" dirty="0">
                <a:solidFill>
                  <a:srgbClr val="1E293B"/>
                </a:solidFill>
                <a:latin typeface="Calibri" pitchFamily="34" charset="0"/>
                <a:ea typeface="Calibri" pitchFamily="34" charset="-122"/>
                <a:cs typeface="Calibri" pitchFamily="34" charset="-120"/>
              </a:rPr>
              <a:t>→ check current status
</a:t>
            </a:r>
            <a:r>
              <a:rPr lang="en-US" sz="1100" b="1" dirty="0">
                <a:solidFill>
                  <a:srgbClr val="1E293B"/>
                </a:solidFill>
                <a:latin typeface="Calibri" pitchFamily="34" charset="0"/>
                <a:ea typeface="Calibri" pitchFamily="34" charset="-122"/>
                <a:cs typeface="Calibri" pitchFamily="34" charset="-120"/>
              </a:rPr>
              <a:t>handleWebhook()</a:t>
            </a:r>
            <a:r>
              <a:rPr lang="en-US" sz="1100" dirty="0">
                <a:solidFill>
                  <a:srgbClr val="1E293B"/>
                </a:solidFill>
                <a:latin typeface="Calibri" pitchFamily="34" charset="0"/>
                <a:ea typeface="Calibri" pitchFamily="34" charset="-122"/>
                <a:cs typeface="Calibri" pitchFamily="34" charset="-120"/>
              </a:rPr>
              <a:t> → async callback
</a:t>
            </a:r>
            <a:r>
              <a:rPr lang="en-US" sz="1100" b="1" dirty="0">
                <a:solidFill>
                  <a:srgbClr val="1E293B"/>
                </a:solidFill>
                <a:latin typeface="Calibri" pitchFamily="34" charset="0"/>
                <a:ea typeface="Calibri" pitchFamily="34" charset="-122"/>
                <a:cs typeface="Calibri" pitchFamily="34" charset="-120"/>
              </a:rPr>
              <a:t>getStats()       </a:t>
            </a:r>
            <a:r>
              <a:rPr lang="en-US" sz="1100" dirty="0">
                <a:solidFill>
                  <a:srgbClr val="1E293B"/>
                </a:solidFill>
                <a:latin typeface="Calibri" pitchFamily="34" charset="0"/>
                <a:ea typeface="Calibri" pitchFamily="34" charset="-122"/>
                <a:cs typeface="Calibri" pitchFamily="34" charset="-120"/>
              </a:rPr>
              <a:t>→ counts by status
</a:t>
            </a:r>
            <a:r>
              <a:rPr lang="en-US" sz="1100" b="1" dirty="0">
                <a:solidFill>
                  <a:srgbClr val="1E293B"/>
                </a:solidFill>
                <a:latin typeface="Calibri" pitchFamily="34" charset="0"/>
                <a:ea typeface="Calibri" pitchFamily="34" charset="-122"/>
                <a:cs typeface="Calibri" pitchFamily="34" charset="-120"/>
              </a:rPr>
              <a:t>Providers (swap via KYC_PROVIDER env):
</a:t>
            </a:r>
            <a:endParaRPr lang="en-US" sz="1100" dirty="0"/>
          </a:p>
          <a:p>
            <a:pPr marL="0" indent="0">
              <a:buNone/>
            </a:pPr>
            <a:r>
              <a:rPr lang="en-US" sz="1100" b="1" dirty="0">
                <a:solidFill>
                  <a:srgbClr val="1C7293"/>
                </a:solidFill>
                <a:latin typeface="Calibri" pitchFamily="34" charset="0"/>
                <a:ea typeface="Calibri" pitchFamily="34" charset="-122"/>
                <a:cs typeface="Calibri" pitchFamily="34" charset="-120"/>
              </a:rPr>
              <a:t>stub          </a:t>
            </a:r>
            <a:r>
              <a:rPr lang="en-US" sz="1100" dirty="0">
                <a:solidFill>
                  <a:srgbClr val="1E293B"/>
                </a:solidFill>
                <a:latin typeface="Calibri" pitchFamily="34" charset="0"/>
                <a:ea typeface="Calibri" pitchFamily="34" charset="-122"/>
                <a:cs typeface="Calibri" pitchFamily="34" charset="-120"/>
              </a:rPr>
              <a:t>— in-memory, auto-approves (dev)
</a:t>
            </a:r>
            <a:r>
              <a:rPr lang="en-US" sz="1100" b="1" dirty="0">
                <a:solidFill>
                  <a:srgbClr val="1C7293"/>
                </a:solidFill>
                <a:latin typeface="Calibri" pitchFamily="34" charset="0"/>
                <a:ea typeface="Calibri" pitchFamily="34" charset="-122"/>
                <a:cs typeface="Calibri" pitchFamily="34" charset="-120"/>
              </a:rPr>
              <a:t>smile_identity</a:t>
            </a:r>
            <a:r>
              <a:rPr lang="en-US" sz="1100" dirty="0">
                <a:solidFill>
                  <a:srgbClr val="1E293B"/>
                </a:solidFill>
                <a:latin typeface="Calibri" pitchFamily="34" charset="0"/>
                <a:ea typeface="Calibri" pitchFamily="34" charset="-122"/>
                <a:cs typeface="Calibri" pitchFamily="34" charset="-120"/>
              </a:rPr>
              <a:t>— national ID (Myanmar)
</a:t>
            </a:r>
            <a:r>
              <a:rPr lang="en-US" sz="1100" b="1" dirty="0">
                <a:solidFill>
                  <a:srgbClr val="1C7293"/>
                </a:solidFill>
                <a:latin typeface="Calibri" pitchFamily="34" charset="0"/>
                <a:ea typeface="Calibri" pitchFamily="34" charset="-122"/>
                <a:cs typeface="Calibri" pitchFamily="34" charset="-120"/>
              </a:rPr>
              <a:t>onfido        </a:t>
            </a:r>
            <a:r>
              <a:rPr lang="en-US" sz="1100" dirty="0">
                <a:solidFill>
                  <a:srgbClr val="1E293B"/>
                </a:solidFill>
                <a:latin typeface="Calibri" pitchFamily="34" charset="0"/>
                <a:ea typeface="Calibri" pitchFamily="34" charset="-122"/>
                <a:cs typeface="Calibri" pitchFamily="34" charset="-120"/>
              </a:rPr>
              <a:t>— global biometric
</a:t>
            </a:r>
            <a:r>
              <a:rPr lang="en-US" sz="1100" i="1" dirty="0">
                <a:solidFill>
                  <a:srgbClr val="64748B"/>
                </a:solidFill>
                <a:latin typeface="Calibri" pitchFamily="34" charset="0"/>
                <a:ea typeface="Calibri" pitchFamily="34" charset="-122"/>
                <a:cs typeface="Calibri" pitchFamily="34" charset="-120"/>
              </a:rPr>
              <a:t>Routes never import the provider directly — they call provider.submit(). This is the pluggable pattern.</a:t>
            </a:r>
            <a:endParaRPr lang="en-US" sz="1100" dirty="0"/>
          </a:p>
        </p:txBody>
      </p:sp>
      <p:sp>
        <p:nvSpPr>
          <p:cNvPr id="9" name="Shape 7"/>
          <p:cNvSpPr/>
          <p:nvPr/>
        </p:nvSpPr>
        <p:spPr>
          <a:xfrm>
            <a:off x="4754880" y="960120"/>
            <a:ext cx="4160520" cy="3931920"/>
          </a:xfrm>
          <a:prstGeom prst="rect">
            <a:avLst/>
          </a:prstGeom>
          <a:solidFill>
            <a:srgbClr val="FFFFFF"/>
          </a:solidFill>
          <a:ln w="6350">
            <a:solidFill>
              <a:srgbClr val="E2E8F0"/>
            </a:solidFill>
            <a:prstDash val="solid"/>
          </a:ln>
          <a:effectLst>
            <a:outerShdw blurRad="76200" dist="25400" dir="8100000" algn="bl" rotWithShape="0">
              <a:srgbClr val="000000">
                <a:alpha val="8000"/>
              </a:srgbClr>
            </a:outerShdw>
          </a:effectLst>
        </p:spPr>
        <p:txBody>
          <a:bodyPr/>
          <a:lstStyle/>
          <a:p>
            <a:endParaRPr lang="en-US"/>
          </a:p>
        </p:txBody>
      </p:sp>
      <p:sp>
        <p:nvSpPr>
          <p:cNvPr id="10" name="Shape 8"/>
          <p:cNvSpPr/>
          <p:nvPr/>
        </p:nvSpPr>
        <p:spPr>
          <a:xfrm>
            <a:off x="4754880" y="960120"/>
            <a:ext cx="64008" cy="3931920"/>
          </a:xfrm>
          <a:prstGeom prst="rect">
            <a:avLst/>
          </a:prstGeom>
          <a:solidFill>
            <a:srgbClr val="7C3AED"/>
          </a:solidFill>
          <a:ln w="12700">
            <a:solidFill>
              <a:srgbClr val="7C3AED"/>
            </a:solidFill>
            <a:prstDash val="solid"/>
          </a:ln>
        </p:spPr>
        <p:txBody>
          <a:bodyPr/>
          <a:lstStyle/>
          <a:p>
            <a:endParaRPr lang="en-US"/>
          </a:p>
        </p:txBody>
      </p:sp>
      <p:sp>
        <p:nvSpPr>
          <p:cNvPr id="11" name="Shape 9"/>
          <p:cNvSpPr/>
          <p:nvPr/>
        </p:nvSpPr>
        <p:spPr>
          <a:xfrm>
            <a:off x="4754880" y="960120"/>
            <a:ext cx="4160520" cy="411480"/>
          </a:xfrm>
          <a:prstGeom prst="rect">
            <a:avLst/>
          </a:prstGeom>
          <a:solidFill>
            <a:srgbClr val="7C3AED"/>
          </a:solidFill>
          <a:ln w="12700">
            <a:solidFill>
              <a:srgbClr val="7C3AED"/>
            </a:solidFill>
            <a:prstDash val="solid"/>
          </a:ln>
        </p:spPr>
        <p:txBody>
          <a:bodyPr/>
          <a:lstStyle/>
          <a:p>
            <a:endParaRPr lang="en-US"/>
          </a:p>
        </p:txBody>
      </p:sp>
      <p:sp>
        <p:nvSpPr>
          <p:cNvPr id="12" name="Text 10"/>
          <p:cNvSpPr/>
          <p:nvPr/>
        </p:nvSpPr>
        <p:spPr>
          <a:xfrm>
            <a:off x="4919472" y="1005840"/>
            <a:ext cx="3840480" cy="310896"/>
          </a:xfrm>
          <a:prstGeom prst="rect">
            <a:avLst/>
          </a:prstGeom>
          <a:noFill/>
          <a:ln/>
        </p:spPr>
        <p:txBody>
          <a:bodyPr wrap="square" lIns="0" tIns="0" rIns="0" bIns="0" rtlCol="0" anchor="ctr"/>
          <a:lstStyle/>
          <a:p>
            <a:pPr marL="0" indent="0">
              <a:buNone/>
            </a:pPr>
            <a:r>
              <a:rPr lang="en-US" sz="1200" b="1" dirty="0">
                <a:solidFill>
                  <a:srgbClr val="FFFFFF"/>
                </a:solidFill>
                <a:latin typeface="Georgia" pitchFamily="34" charset="0"/>
                <a:ea typeface="Georgia" pitchFamily="34" charset="-122"/>
                <a:cs typeface="Georgia" pitchFamily="34" charset="-120"/>
              </a:rPr>
              <a:t>Reporting Service — Python + SQL</a:t>
            </a:r>
            <a:endParaRPr lang="en-US" sz="1200" dirty="0"/>
          </a:p>
        </p:txBody>
      </p:sp>
      <p:sp>
        <p:nvSpPr>
          <p:cNvPr id="13" name="Text 11"/>
          <p:cNvSpPr/>
          <p:nvPr/>
        </p:nvSpPr>
        <p:spPr>
          <a:xfrm>
            <a:off x="4937760" y="1444752"/>
            <a:ext cx="3794760" cy="3291840"/>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Stack: </a:t>
            </a:r>
            <a:r>
              <a:rPr lang="en-US" sz="1100" dirty="0">
                <a:solidFill>
                  <a:srgbClr val="1E293B"/>
                </a:solidFill>
                <a:latin typeface="Calibri" pitchFamily="34" charset="0"/>
                <a:ea typeface="Calibri" pitchFamily="34" charset="-122"/>
                <a:cs typeface="Calibri" pitchFamily="34" charset="-120"/>
              </a:rPr>
              <a:t>FastAPI + SQLAlchemy async + asyncpg
</a:t>
            </a:r>
            <a:r>
              <a:rPr lang="en-US" sz="1100" b="1" dirty="0">
                <a:solidFill>
                  <a:srgbClr val="1E293B"/>
                </a:solidFill>
                <a:latin typeface="Calibri" pitchFamily="34" charset="0"/>
                <a:ea typeface="Calibri" pitchFamily="34" charset="-122"/>
                <a:cs typeface="Calibri" pitchFamily="34" charset="-120"/>
              </a:rPr>
              <a:t>Why direct SQL (not Fineract REST)?
</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Fineract's inArrears flag only updates after a scheduled batch job. Direct SQL is real-time and more accurate for PAR.
</a:t>
            </a:r>
            <a:r>
              <a:rPr lang="en-US" sz="1100" b="1" dirty="0">
                <a:solidFill>
                  <a:srgbClr val="1E293B"/>
                </a:solidFill>
                <a:latin typeface="Calibri" pitchFamily="34" charset="0"/>
                <a:ea typeface="Calibri" pitchFamily="34" charset="-122"/>
                <a:cs typeface="Calibri" pitchFamily="34" charset="-120"/>
              </a:rPr>
              <a:t>3 routers:
</a:t>
            </a:r>
            <a:endParaRPr lang="en-US" sz="1100" dirty="0"/>
          </a:p>
          <a:p>
            <a:pPr marL="0" indent="0">
              <a:buNone/>
            </a:pPr>
            <a:r>
              <a:rPr lang="en-US" sz="1100" b="1" dirty="0">
                <a:solidFill>
                  <a:srgbClr val="7C3AED"/>
                </a:solidFill>
                <a:latin typeface="Calibri" pitchFamily="34" charset="0"/>
                <a:ea typeface="Calibri" pitchFamily="34" charset="-122"/>
                <a:cs typeface="Calibri" pitchFamily="34" charset="-120"/>
              </a:rPr>
              <a:t>portfolio   </a:t>
            </a:r>
            <a:r>
              <a:rPr lang="en-US" sz="1100" dirty="0">
                <a:solidFill>
                  <a:srgbClr val="1E293B"/>
                </a:solidFill>
                <a:latin typeface="Calibri" pitchFamily="34" charset="0"/>
                <a:ea typeface="Calibri" pitchFamily="34" charset="-122"/>
                <a:cs typeface="Calibri" pitchFamily="34" charset="-120"/>
              </a:rPr>
              <a:t>→ PAR calculation via CTE
</a:t>
            </a:r>
            <a:r>
              <a:rPr lang="en-US" sz="1100" b="1" dirty="0">
                <a:solidFill>
                  <a:srgbClr val="7C3AED"/>
                </a:solidFill>
                <a:latin typeface="Calibri" pitchFamily="34" charset="0"/>
                <a:ea typeface="Calibri" pitchFamily="34" charset="-122"/>
                <a:cs typeface="Calibri" pitchFamily="34" charset="-120"/>
              </a:rPr>
              <a:t>collections </a:t>
            </a:r>
            <a:r>
              <a:rPr lang="en-US" sz="1100" dirty="0">
                <a:solidFill>
                  <a:srgbClr val="1E293B"/>
                </a:solidFill>
                <a:latin typeface="Calibri" pitchFamily="34" charset="0"/>
                <a:ea typeface="Calibri" pitchFamily="34" charset="-122"/>
                <a:cs typeface="Calibri" pitchFamily="34" charset="-120"/>
              </a:rPr>
              <a:t>→ SUM(repayments today)
</a:t>
            </a:r>
            <a:r>
              <a:rPr lang="en-US" sz="1100" b="1" dirty="0">
                <a:solidFill>
                  <a:srgbClr val="7C3AED"/>
                </a:solidFill>
                <a:latin typeface="Calibri" pitchFamily="34" charset="0"/>
                <a:ea typeface="Calibri" pitchFamily="34" charset="-122"/>
                <a:cs typeface="Calibri" pitchFamily="34" charset="-120"/>
              </a:rPr>
              <a:t>kyc_summary </a:t>
            </a:r>
            <a:r>
              <a:rPr lang="en-US" sz="1100" dirty="0">
                <a:solidFill>
                  <a:srgbClr val="1E293B"/>
                </a:solidFill>
                <a:latin typeface="Calibri" pitchFamily="34" charset="0"/>
                <a:ea typeface="Calibri" pitchFamily="34" charset="-122"/>
                <a:cs typeface="Calibri" pitchFamily="34" charset="-120"/>
              </a:rPr>
              <a:t>→ pulls from KYC service
</a:t>
            </a:r>
            <a:r>
              <a:rPr lang="en-US" sz="1100" i="1" dirty="0">
                <a:solidFill>
                  <a:srgbClr val="64748B"/>
                </a:solidFill>
                <a:latin typeface="Calibri" pitchFamily="34" charset="0"/>
                <a:ea typeface="Calibri" pitchFamily="34" charset="-122"/>
                <a:cs typeface="Calibri" pitchFamily="34" charset="-120"/>
              </a:rPr>
              <a:t>Startup check: SELECT 1 — fails fast if PostgreSQL is unreachable.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03354D"/>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txBody>
          <a:bodyPr/>
          <a:lstStyle/>
          <a:p>
            <a:endParaRPr lang="en-US"/>
          </a:p>
        </p:txBody>
      </p:sp>
      <p:sp>
        <p:nvSpPr>
          <p:cNvPr id="3" name="Text 1"/>
          <p:cNvSpPr/>
          <p:nvPr/>
        </p:nvSpPr>
        <p:spPr>
          <a:xfrm>
            <a:off x="548640" y="201168"/>
            <a:ext cx="8046720" cy="59436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Summary &amp; Roadmap</a:t>
            </a:r>
            <a:endParaRPr lang="en-US" sz="3200" dirty="0"/>
          </a:p>
        </p:txBody>
      </p:sp>
      <p:sp>
        <p:nvSpPr>
          <p:cNvPr id="4" name="Text 2"/>
          <p:cNvSpPr/>
          <p:nvPr/>
        </p:nvSpPr>
        <p:spPr>
          <a:xfrm>
            <a:off x="548640" y="822960"/>
            <a:ext cx="8046720" cy="320040"/>
          </a:xfrm>
          <a:prstGeom prst="rect">
            <a:avLst/>
          </a:prstGeom>
          <a:noFill/>
          <a:ln/>
        </p:spPr>
        <p:txBody>
          <a:bodyPr wrap="square" lIns="0" tIns="0" rIns="0" bIns="0" rtlCol="0" anchor="ctr"/>
          <a:lstStyle/>
          <a:p>
            <a:pPr marL="0" indent="0">
              <a:buNone/>
            </a:pPr>
            <a:r>
              <a:rPr lang="en-US" sz="1400" dirty="0">
                <a:solidFill>
                  <a:srgbClr val="7FBBCC"/>
                </a:solidFill>
                <a:latin typeface="Calibri" pitchFamily="34" charset="0"/>
                <a:ea typeface="Calibri" pitchFamily="34" charset="-122"/>
                <a:cs typeface="Calibri" pitchFamily="34" charset="-120"/>
              </a:rPr>
              <a:t>From learning to a fully running system — two clear phases</a:t>
            </a:r>
            <a:endParaRPr lang="en-US" sz="1400" dirty="0"/>
          </a:p>
        </p:txBody>
      </p:sp>
      <p:sp>
        <p:nvSpPr>
          <p:cNvPr id="5" name="Shape 3"/>
          <p:cNvSpPr/>
          <p:nvPr/>
        </p:nvSpPr>
        <p:spPr>
          <a:xfrm>
            <a:off x="365760" y="1298448"/>
            <a:ext cx="4160520" cy="3474720"/>
          </a:xfrm>
          <a:prstGeom prst="rect">
            <a:avLst/>
          </a:prstGeom>
          <a:solidFill>
            <a:srgbClr val="062E44"/>
          </a:solidFill>
          <a:ln w="15240">
            <a:solidFill>
              <a:srgbClr val="1C7293"/>
            </a:solidFill>
            <a:prstDash val="solid"/>
          </a:ln>
        </p:spPr>
        <p:txBody>
          <a:bodyPr/>
          <a:lstStyle/>
          <a:p>
            <a:endParaRPr lang="en-US"/>
          </a:p>
        </p:txBody>
      </p:sp>
      <p:sp>
        <p:nvSpPr>
          <p:cNvPr id="6" name="Shape 4"/>
          <p:cNvSpPr/>
          <p:nvPr/>
        </p:nvSpPr>
        <p:spPr>
          <a:xfrm>
            <a:off x="365760" y="1298448"/>
            <a:ext cx="4160520" cy="548640"/>
          </a:xfrm>
          <a:prstGeom prst="rect">
            <a:avLst/>
          </a:prstGeom>
          <a:solidFill>
            <a:srgbClr val="1C7293"/>
          </a:solidFill>
          <a:ln w="12700">
            <a:solidFill>
              <a:srgbClr val="1C7293"/>
            </a:solidFill>
            <a:prstDash val="solid"/>
          </a:ln>
        </p:spPr>
        <p:txBody>
          <a:bodyPr/>
          <a:lstStyle/>
          <a:p>
            <a:endParaRPr lang="en-US"/>
          </a:p>
        </p:txBody>
      </p:sp>
      <p:sp>
        <p:nvSpPr>
          <p:cNvPr id="7" name="Text 5"/>
          <p:cNvSpPr/>
          <p:nvPr/>
        </p:nvSpPr>
        <p:spPr>
          <a:xfrm>
            <a:off x="502920" y="1344168"/>
            <a:ext cx="2286000" cy="182880"/>
          </a:xfrm>
          <a:prstGeom prst="rect">
            <a:avLst/>
          </a:prstGeom>
          <a:noFill/>
          <a:ln/>
        </p:spPr>
        <p:txBody>
          <a:bodyPr wrap="square" lIns="0" tIns="0" rIns="0" bIns="0" rtlCol="0" anchor="ctr"/>
          <a:lstStyle/>
          <a:p>
            <a:pPr marL="0" indent="0">
              <a:buNone/>
            </a:pPr>
            <a:r>
              <a:rPr lang="en-US" sz="900" b="1" dirty="0">
                <a:solidFill>
                  <a:srgbClr val="D0EAF5"/>
                </a:solidFill>
                <a:latin typeface="Calibri" pitchFamily="34" charset="0"/>
                <a:ea typeface="Calibri" pitchFamily="34" charset="-122"/>
                <a:cs typeface="Calibri" pitchFamily="34" charset="-120"/>
              </a:rPr>
              <a:t>WEEKS 2 – 3</a:t>
            </a:r>
            <a:endParaRPr lang="en-US" sz="900" dirty="0"/>
          </a:p>
        </p:txBody>
      </p:sp>
      <p:sp>
        <p:nvSpPr>
          <p:cNvPr id="8" name="Shape 6"/>
          <p:cNvSpPr/>
          <p:nvPr/>
        </p:nvSpPr>
        <p:spPr>
          <a:xfrm>
            <a:off x="3063240" y="1362456"/>
            <a:ext cx="1325880" cy="237744"/>
          </a:xfrm>
          <a:prstGeom prst="rect">
            <a:avLst/>
          </a:prstGeom>
          <a:solidFill>
            <a:srgbClr val="02C39A"/>
          </a:solidFill>
          <a:ln w="12700">
            <a:solidFill>
              <a:srgbClr val="02C39A"/>
            </a:solidFill>
            <a:prstDash val="solid"/>
          </a:ln>
        </p:spPr>
        <p:txBody>
          <a:bodyPr/>
          <a:lstStyle/>
          <a:p>
            <a:endParaRPr lang="en-US"/>
          </a:p>
        </p:txBody>
      </p:sp>
      <p:sp>
        <p:nvSpPr>
          <p:cNvPr id="9" name="Text 7"/>
          <p:cNvSpPr/>
          <p:nvPr/>
        </p:nvSpPr>
        <p:spPr>
          <a:xfrm>
            <a:off x="3063240" y="1362456"/>
            <a:ext cx="1325880" cy="237744"/>
          </a:xfrm>
          <a:prstGeom prst="rect">
            <a:avLst/>
          </a:prstGeom>
          <a:noFill/>
          <a:ln/>
        </p:spPr>
        <p:txBody>
          <a:bodyPr wrap="square" lIns="0" tIns="0" rIns="0" bIns="0" rtlCol="0" anchor="ctr"/>
          <a:lstStyle/>
          <a:p>
            <a:pPr marL="0" indent="0" algn="ctr">
              <a:buNone/>
            </a:pPr>
            <a:r>
              <a:rPr lang="en-US" sz="850" b="1" dirty="0">
                <a:solidFill>
                  <a:srgbClr val="03354D"/>
                </a:solidFill>
                <a:latin typeface="Calibri" pitchFamily="34" charset="0"/>
                <a:ea typeface="Calibri" pitchFamily="34" charset="-122"/>
                <a:cs typeface="Calibri" pitchFamily="34" charset="-120"/>
              </a:rPr>
              <a:t>FIX &amp; LAUNCH</a:t>
            </a:r>
            <a:endParaRPr lang="en-US" sz="850" dirty="0"/>
          </a:p>
        </p:txBody>
      </p:sp>
      <p:sp>
        <p:nvSpPr>
          <p:cNvPr id="10" name="Text 8"/>
          <p:cNvSpPr/>
          <p:nvPr/>
        </p:nvSpPr>
        <p:spPr>
          <a:xfrm>
            <a:off x="502920" y="1901952"/>
            <a:ext cx="3840480" cy="329184"/>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Fix Bugs + All Core Functions Running</a:t>
            </a:r>
            <a:endParaRPr lang="en-US" sz="1300" dirty="0"/>
          </a:p>
        </p:txBody>
      </p:sp>
      <p:pic>
        <p:nvPicPr>
          <p:cNvPr id="11" name="Image 0" descr="preencoded.png"/>
          <p:cNvPicPr>
            <a:picLocks noChangeAspect="1"/>
          </p:cNvPicPr>
          <p:nvPr/>
        </p:nvPicPr>
        <p:blipFill>
          <a:blip r:embed="rId3"/>
          <a:stretch>
            <a:fillRect/>
          </a:stretch>
        </p:blipFill>
        <p:spPr>
          <a:xfrm>
            <a:off x="502920" y="2331720"/>
            <a:ext cx="164592" cy="164592"/>
          </a:xfrm>
          <a:prstGeom prst="rect">
            <a:avLst/>
          </a:prstGeom>
        </p:spPr>
      </p:pic>
      <p:sp>
        <p:nvSpPr>
          <p:cNvPr id="12" name="Text 9"/>
          <p:cNvSpPr/>
          <p:nvPr/>
        </p:nvSpPr>
        <p:spPr>
          <a:xfrm>
            <a:off x="731520" y="2304288"/>
            <a:ext cx="3639312" cy="384048"/>
          </a:xfrm>
          <a:prstGeom prst="rect">
            <a:avLst/>
          </a:prstGeom>
          <a:noFill/>
          <a:ln/>
        </p:spPr>
        <p:txBody>
          <a:bodyPr wrap="square" rtlCol="0" anchor="ctr"/>
          <a:lstStyle/>
          <a:p>
            <a:pPr marL="0" indent="0">
              <a:buNone/>
            </a:pPr>
            <a:r>
              <a:rPr lang="en-US" sz="1050" dirty="0">
                <a:solidFill>
                  <a:srgbClr val="C8E6F5"/>
                </a:solidFill>
                <a:latin typeface="Calibri" pitchFamily="34" charset="0"/>
                <a:ea typeface="Calibri" pitchFamily="34" charset="-122"/>
                <a:cs typeface="Calibri" pitchFamily="34" charset="-120"/>
              </a:rPr>
              <a:t>Fix all critical security bugs (SQL injection, missing auth)</a:t>
            </a:r>
            <a:endParaRPr lang="en-US" sz="1050" dirty="0"/>
          </a:p>
        </p:txBody>
      </p:sp>
      <p:pic>
        <p:nvPicPr>
          <p:cNvPr id="13" name="Image 1" descr="preencoded.png"/>
          <p:cNvPicPr>
            <a:picLocks noChangeAspect="1"/>
          </p:cNvPicPr>
          <p:nvPr/>
        </p:nvPicPr>
        <p:blipFill>
          <a:blip r:embed="rId3"/>
          <a:stretch>
            <a:fillRect/>
          </a:stretch>
        </p:blipFill>
        <p:spPr>
          <a:xfrm>
            <a:off x="502920" y="2779776"/>
            <a:ext cx="164592" cy="164592"/>
          </a:xfrm>
          <a:prstGeom prst="rect">
            <a:avLst/>
          </a:prstGeom>
        </p:spPr>
      </p:pic>
      <p:sp>
        <p:nvSpPr>
          <p:cNvPr id="14" name="Text 10"/>
          <p:cNvSpPr/>
          <p:nvPr/>
        </p:nvSpPr>
        <p:spPr>
          <a:xfrm>
            <a:off x="731520" y="2752344"/>
            <a:ext cx="3639312" cy="384048"/>
          </a:xfrm>
          <a:prstGeom prst="rect">
            <a:avLst/>
          </a:prstGeom>
          <a:noFill/>
          <a:ln/>
        </p:spPr>
        <p:txBody>
          <a:bodyPr wrap="square" rtlCol="0" anchor="ctr"/>
          <a:lstStyle/>
          <a:p>
            <a:pPr marL="0" indent="0">
              <a:buNone/>
            </a:pPr>
            <a:r>
              <a:rPr lang="en-US" sz="1050" dirty="0">
                <a:solidFill>
                  <a:srgbClr val="C8E6F5"/>
                </a:solidFill>
                <a:latin typeface="Calibri" pitchFamily="34" charset="0"/>
                <a:ea typeface="Calibri" pitchFamily="34" charset="-122"/>
                <a:cs typeface="Calibri" pitchFamily="34" charset="-120"/>
              </a:rPr>
              <a:t>KYC service — persist data + wire real provider</a:t>
            </a:r>
            <a:endParaRPr lang="en-US" sz="1050" dirty="0"/>
          </a:p>
        </p:txBody>
      </p:sp>
      <p:pic>
        <p:nvPicPr>
          <p:cNvPr id="17" name="Image 3" descr="preencoded.png"/>
          <p:cNvPicPr>
            <a:picLocks noChangeAspect="1"/>
          </p:cNvPicPr>
          <p:nvPr/>
        </p:nvPicPr>
        <p:blipFill>
          <a:blip r:embed="rId3"/>
          <a:stretch>
            <a:fillRect/>
          </a:stretch>
        </p:blipFill>
        <p:spPr>
          <a:xfrm>
            <a:off x="498348" y="3255264"/>
            <a:ext cx="164592" cy="164592"/>
          </a:xfrm>
          <a:prstGeom prst="rect">
            <a:avLst/>
          </a:prstGeom>
        </p:spPr>
      </p:pic>
      <p:sp>
        <p:nvSpPr>
          <p:cNvPr id="18" name="Text 12"/>
          <p:cNvSpPr/>
          <p:nvPr/>
        </p:nvSpPr>
        <p:spPr>
          <a:xfrm>
            <a:off x="726948" y="3227832"/>
            <a:ext cx="3639312" cy="384048"/>
          </a:xfrm>
          <a:prstGeom prst="rect">
            <a:avLst/>
          </a:prstGeom>
          <a:noFill/>
          <a:ln/>
        </p:spPr>
        <p:txBody>
          <a:bodyPr wrap="square" rtlCol="0" anchor="ctr"/>
          <a:lstStyle/>
          <a:p>
            <a:pPr marL="0" indent="0">
              <a:buNone/>
            </a:pPr>
            <a:r>
              <a:rPr lang="en-US" sz="1050" dirty="0">
                <a:solidFill>
                  <a:srgbClr val="C8E6F5"/>
                </a:solidFill>
                <a:latin typeface="Calibri" pitchFamily="34" charset="0"/>
                <a:ea typeface="Calibri" pitchFamily="34" charset="-122"/>
                <a:cs typeface="Calibri" pitchFamily="34" charset="-120"/>
              </a:rPr>
              <a:t>All 8 services stable, health-checked, and production-ready</a:t>
            </a:r>
            <a:endParaRPr lang="en-US" sz="1050" dirty="0"/>
          </a:p>
        </p:txBody>
      </p:sp>
      <p:pic>
        <p:nvPicPr>
          <p:cNvPr id="19" name="Image 4" descr="preencoded.png"/>
          <p:cNvPicPr>
            <a:picLocks noChangeAspect="1"/>
          </p:cNvPicPr>
          <p:nvPr/>
        </p:nvPicPr>
        <p:blipFill>
          <a:blip r:embed="rId3"/>
          <a:stretch>
            <a:fillRect/>
          </a:stretch>
        </p:blipFill>
        <p:spPr>
          <a:xfrm>
            <a:off x="520153" y="3803904"/>
            <a:ext cx="164592" cy="164592"/>
          </a:xfrm>
          <a:prstGeom prst="rect">
            <a:avLst/>
          </a:prstGeom>
        </p:spPr>
      </p:pic>
      <p:sp>
        <p:nvSpPr>
          <p:cNvPr id="20" name="Text 13"/>
          <p:cNvSpPr/>
          <p:nvPr/>
        </p:nvSpPr>
        <p:spPr>
          <a:xfrm>
            <a:off x="735740" y="3666744"/>
            <a:ext cx="3639312" cy="384048"/>
          </a:xfrm>
          <a:prstGeom prst="rect">
            <a:avLst/>
          </a:prstGeom>
          <a:noFill/>
          <a:ln/>
        </p:spPr>
        <p:txBody>
          <a:bodyPr wrap="square" rtlCol="0" anchor="ctr"/>
          <a:lstStyle/>
          <a:p>
            <a:pPr marL="0" indent="0">
              <a:buNone/>
            </a:pPr>
            <a:r>
              <a:rPr lang="en-US" sz="1050" dirty="0">
                <a:solidFill>
                  <a:srgbClr val="C8E6F5"/>
                </a:solidFill>
                <a:latin typeface="Calibri" pitchFamily="34" charset="0"/>
                <a:ea typeface="Calibri" pitchFamily="34" charset="-122"/>
                <a:cs typeface="Calibri" pitchFamily="34" charset="-120"/>
              </a:rPr>
              <a:t>Every core user flow works end-to-end with no workarounds</a:t>
            </a:r>
            <a:endParaRPr lang="en-US" sz="1050" dirty="0"/>
          </a:p>
        </p:txBody>
      </p:sp>
      <p:sp>
        <p:nvSpPr>
          <p:cNvPr id="21" name="Shape 14"/>
          <p:cNvSpPr/>
          <p:nvPr/>
        </p:nvSpPr>
        <p:spPr>
          <a:xfrm>
            <a:off x="4663440" y="1298448"/>
            <a:ext cx="4160520" cy="3474720"/>
          </a:xfrm>
          <a:prstGeom prst="rect">
            <a:avLst/>
          </a:prstGeom>
          <a:solidFill>
            <a:srgbClr val="0A1F35"/>
          </a:solidFill>
          <a:ln w="15240">
            <a:solidFill>
              <a:srgbClr val="7C3AED"/>
            </a:solidFill>
            <a:prstDash val="solid"/>
          </a:ln>
        </p:spPr>
        <p:txBody>
          <a:bodyPr/>
          <a:lstStyle/>
          <a:p>
            <a:endParaRPr lang="en-US"/>
          </a:p>
        </p:txBody>
      </p:sp>
      <p:sp>
        <p:nvSpPr>
          <p:cNvPr id="22" name="Shape 15"/>
          <p:cNvSpPr/>
          <p:nvPr/>
        </p:nvSpPr>
        <p:spPr>
          <a:xfrm>
            <a:off x="4663440" y="1298448"/>
            <a:ext cx="4160520" cy="548640"/>
          </a:xfrm>
          <a:prstGeom prst="rect">
            <a:avLst/>
          </a:prstGeom>
          <a:solidFill>
            <a:srgbClr val="7C3AED"/>
          </a:solidFill>
          <a:ln w="12700">
            <a:solidFill>
              <a:srgbClr val="7C3AED"/>
            </a:solidFill>
            <a:prstDash val="solid"/>
          </a:ln>
        </p:spPr>
        <p:txBody>
          <a:bodyPr/>
          <a:lstStyle/>
          <a:p>
            <a:endParaRPr lang="en-US"/>
          </a:p>
        </p:txBody>
      </p:sp>
      <p:sp>
        <p:nvSpPr>
          <p:cNvPr id="23" name="Text 16"/>
          <p:cNvSpPr/>
          <p:nvPr/>
        </p:nvSpPr>
        <p:spPr>
          <a:xfrm>
            <a:off x="4800600" y="1344168"/>
            <a:ext cx="2286000" cy="182880"/>
          </a:xfrm>
          <a:prstGeom prst="rect">
            <a:avLst/>
          </a:prstGeom>
          <a:noFill/>
          <a:ln/>
        </p:spPr>
        <p:txBody>
          <a:bodyPr wrap="square" lIns="0" tIns="0" rIns="0" bIns="0" rtlCol="0" anchor="ctr"/>
          <a:lstStyle/>
          <a:p>
            <a:pPr marL="0" indent="0">
              <a:buNone/>
            </a:pPr>
            <a:r>
              <a:rPr lang="en-US" sz="900" b="1" dirty="0">
                <a:solidFill>
                  <a:srgbClr val="D0EAF5"/>
                </a:solidFill>
                <a:latin typeface="Calibri" pitchFamily="34" charset="0"/>
                <a:ea typeface="Calibri" pitchFamily="34" charset="-122"/>
                <a:cs typeface="Calibri" pitchFamily="34" charset="-120"/>
              </a:rPr>
              <a:t>WEEKS 4+</a:t>
            </a:r>
            <a:endParaRPr lang="en-US" sz="900" dirty="0"/>
          </a:p>
        </p:txBody>
      </p:sp>
      <p:sp>
        <p:nvSpPr>
          <p:cNvPr id="24" name="Shape 17"/>
          <p:cNvSpPr/>
          <p:nvPr/>
        </p:nvSpPr>
        <p:spPr>
          <a:xfrm>
            <a:off x="7269480" y="1362456"/>
            <a:ext cx="1417320" cy="237744"/>
          </a:xfrm>
          <a:prstGeom prst="rect">
            <a:avLst/>
          </a:prstGeom>
          <a:solidFill>
            <a:srgbClr val="7C3AED"/>
          </a:solidFill>
          <a:ln w="12700">
            <a:solidFill>
              <a:srgbClr val="A78BFA"/>
            </a:solidFill>
            <a:prstDash val="solid"/>
          </a:ln>
        </p:spPr>
        <p:txBody>
          <a:bodyPr/>
          <a:lstStyle/>
          <a:p>
            <a:endParaRPr lang="en-US"/>
          </a:p>
        </p:txBody>
      </p:sp>
      <p:sp>
        <p:nvSpPr>
          <p:cNvPr id="25" name="Text 18"/>
          <p:cNvSpPr/>
          <p:nvPr/>
        </p:nvSpPr>
        <p:spPr>
          <a:xfrm>
            <a:off x="7269480" y="1362456"/>
            <a:ext cx="1417320"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GROW</a:t>
            </a:r>
            <a:endParaRPr lang="en-US" sz="850" dirty="0"/>
          </a:p>
        </p:txBody>
      </p:sp>
      <p:sp>
        <p:nvSpPr>
          <p:cNvPr id="26" name="Text 19"/>
          <p:cNvSpPr/>
          <p:nvPr/>
        </p:nvSpPr>
        <p:spPr>
          <a:xfrm>
            <a:off x="4800600" y="1901952"/>
            <a:ext cx="3840480" cy="329184"/>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Customization, Integration &amp; Extension</a:t>
            </a:r>
            <a:endParaRPr lang="en-US" sz="1300" dirty="0"/>
          </a:p>
        </p:txBody>
      </p:sp>
      <p:pic>
        <p:nvPicPr>
          <p:cNvPr id="27" name="Image 5" descr="preencoded.png"/>
          <p:cNvPicPr>
            <a:picLocks noChangeAspect="1"/>
          </p:cNvPicPr>
          <p:nvPr/>
        </p:nvPicPr>
        <p:blipFill>
          <a:blip r:embed="rId3"/>
          <a:stretch>
            <a:fillRect/>
          </a:stretch>
        </p:blipFill>
        <p:spPr>
          <a:xfrm>
            <a:off x="4800600" y="2331720"/>
            <a:ext cx="164592" cy="164592"/>
          </a:xfrm>
          <a:prstGeom prst="rect">
            <a:avLst/>
          </a:prstGeom>
        </p:spPr>
      </p:pic>
      <p:sp>
        <p:nvSpPr>
          <p:cNvPr id="28" name="Text 20"/>
          <p:cNvSpPr/>
          <p:nvPr/>
        </p:nvSpPr>
        <p:spPr>
          <a:xfrm>
            <a:off x="5029200" y="2304288"/>
            <a:ext cx="3639312" cy="384048"/>
          </a:xfrm>
          <a:prstGeom prst="rect">
            <a:avLst/>
          </a:prstGeom>
          <a:noFill/>
          <a:ln/>
        </p:spPr>
        <p:txBody>
          <a:bodyPr wrap="square" rtlCol="0" anchor="ctr"/>
          <a:lstStyle/>
          <a:p>
            <a:pPr marL="0" indent="0">
              <a:buNone/>
            </a:pPr>
            <a:r>
              <a:rPr lang="en-US" sz="1050" dirty="0">
                <a:solidFill>
                  <a:srgbClr val="C8E6F5"/>
                </a:solidFill>
                <a:latin typeface="Calibri" pitchFamily="34" charset="0"/>
                <a:ea typeface="Calibri" pitchFamily="34" charset="-122"/>
                <a:cs typeface="Calibri" pitchFamily="34" charset="-120"/>
              </a:rPr>
              <a:t>Customize loan products, fees, and repayment rules</a:t>
            </a:r>
            <a:endParaRPr lang="en-US" sz="1050" dirty="0"/>
          </a:p>
        </p:txBody>
      </p:sp>
      <p:pic>
        <p:nvPicPr>
          <p:cNvPr id="29" name="Image 6" descr="preencoded.png"/>
          <p:cNvPicPr>
            <a:picLocks noChangeAspect="1"/>
          </p:cNvPicPr>
          <p:nvPr/>
        </p:nvPicPr>
        <p:blipFill>
          <a:blip r:embed="rId3"/>
          <a:stretch>
            <a:fillRect/>
          </a:stretch>
        </p:blipFill>
        <p:spPr>
          <a:xfrm>
            <a:off x="4800600" y="2779776"/>
            <a:ext cx="164592" cy="164592"/>
          </a:xfrm>
          <a:prstGeom prst="rect">
            <a:avLst/>
          </a:prstGeom>
        </p:spPr>
      </p:pic>
      <p:sp>
        <p:nvSpPr>
          <p:cNvPr id="30" name="Text 21"/>
          <p:cNvSpPr/>
          <p:nvPr/>
        </p:nvSpPr>
        <p:spPr>
          <a:xfrm>
            <a:off x="5029200" y="2752344"/>
            <a:ext cx="3639312" cy="384048"/>
          </a:xfrm>
          <a:prstGeom prst="rect">
            <a:avLst/>
          </a:prstGeom>
          <a:noFill/>
          <a:ln/>
        </p:spPr>
        <p:txBody>
          <a:bodyPr wrap="square" rtlCol="0" anchor="ctr"/>
          <a:lstStyle/>
          <a:p>
            <a:pPr marL="0" indent="0">
              <a:buNone/>
            </a:pPr>
            <a:r>
              <a:rPr lang="en-US" sz="1050" dirty="0">
                <a:solidFill>
                  <a:srgbClr val="C8E6F5"/>
                </a:solidFill>
                <a:latin typeface="Calibri" pitchFamily="34" charset="0"/>
                <a:ea typeface="Calibri" pitchFamily="34" charset="-122"/>
                <a:cs typeface="Calibri" pitchFamily="34" charset="-120"/>
              </a:rPr>
              <a:t>Integrate real KYC provider (Smile Identity for Myanmar)</a:t>
            </a:r>
            <a:endParaRPr lang="en-US" sz="1050" dirty="0"/>
          </a:p>
        </p:txBody>
      </p:sp>
      <p:pic>
        <p:nvPicPr>
          <p:cNvPr id="31" name="Image 7" descr="preencoded.png"/>
          <p:cNvPicPr>
            <a:picLocks noChangeAspect="1"/>
          </p:cNvPicPr>
          <p:nvPr/>
        </p:nvPicPr>
        <p:blipFill>
          <a:blip r:embed="rId3"/>
          <a:stretch>
            <a:fillRect/>
          </a:stretch>
        </p:blipFill>
        <p:spPr>
          <a:xfrm>
            <a:off x="4800600" y="3227832"/>
            <a:ext cx="164592" cy="164592"/>
          </a:xfrm>
          <a:prstGeom prst="rect">
            <a:avLst/>
          </a:prstGeom>
        </p:spPr>
      </p:pic>
      <p:sp>
        <p:nvSpPr>
          <p:cNvPr id="32" name="Text 22"/>
          <p:cNvSpPr/>
          <p:nvPr/>
        </p:nvSpPr>
        <p:spPr>
          <a:xfrm>
            <a:off x="5029200" y="3200400"/>
            <a:ext cx="3639312" cy="384048"/>
          </a:xfrm>
          <a:prstGeom prst="rect">
            <a:avLst/>
          </a:prstGeom>
          <a:noFill/>
          <a:ln/>
        </p:spPr>
        <p:txBody>
          <a:bodyPr wrap="square" rtlCol="0" anchor="ctr"/>
          <a:lstStyle/>
          <a:p>
            <a:pPr marL="0" indent="0">
              <a:buNone/>
            </a:pPr>
            <a:r>
              <a:rPr lang="en-US" sz="1050" dirty="0">
                <a:solidFill>
                  <a:srgbClr val="C8E6F5"/>
                </a:solidFill>
                <a:latin typeface="Calibri" pitchFamily="34" charset="0"/>
                <a:ea typeface="Calibri" pitchFamily="34" charset="-122"/>
                <a:cs typeface="Calibri" pitchFamily="34" charset="-120"/>
              </a:rPr>
              <a:t>Extend mobile app — notifications, offline support</a:t>
            </a:r>
            <a:endParaRPr lang="en-US" sz="1050" dirty="0"/>
          </a:p>
        </p:txBody>
      </p:sp>
      <p:pic>
        <p:nvPicPr>
          <p:cNvPr id="33" name="Image 8" descr="preencoded.png"/>
          <p:cNvPicPr>
            <a:picLocks noChangeAspect="1"/>
          </p:cNvPicPr>
          <p:nvPr/>
        </p:nvPicPr>
        <p:blipFill>
          <a:blip r:embed="rId3"/>
          <a:stretch>
            <a:fillRect/>
          </a:stretch>
        </p:blipFill>
        <p:spPr>
          <a:xfrm>
            <a:off x="4800600" y="3675888"/>
            <a:ext cx="164592" cy="164592"/>
          </a:xfrm>
          <a:prstGeom prst="rect">
            <a:avLst/>
          </a:prstGeom>
        </p:spPr>
      </p:pic>
      <p:sp>
        <p:nvSpPr>
          <p:cNvPr id="34" name="Text 23"/>
          <p:cNvSpPr/>
          <p:nvPr/>
        </p:nvSpPr>
        <p:spPr>
          <a:xfrm>
            <a:off x="5029200" y="3648456"/>
            <a:ext cx="3639312" cy="384048"/>
          </a:xfrm>
          <a:prstGeom prst="rect">
            <a:avLst/>
          </a:prstGeom>
          <a:noFill/>
          <a:ln/>
        </p:spPr>
        <p:txBody>
          <a:bodyPr wrap="square" rtlCol="0" anchor="ctr"/>
          <a:lstStyle/>
          <a:p>
            <a:pPr marL="0" indent="0">
              <a:buNone/>
            </a:pPr>
            <a:r>
              <a:rPr lang="en-US" sz="1050" dirty="0">
                <a:solidFill>
                  <a:srgbClr val="C8E6F5"/>
                </a:solidFill>
                <a:latin typeface="Calibri" pitchFamily="34" charset="0"/>
                <a:ea typeface="Calibri" pitchFamily="34" charset="-122"/>
                <a:cs typeface="Calibri" pitchFamily="34" charset="-120"/>
              </a:rPr>
              <a:t>Production deployment — cloud, monitoring, alerting</a:t>
            </a:r>
            <a:endParaRPr lang="en-US" sz="1050" dirty="0"/>
          </a:p>
        </p:txBody>
      </p:sp>
      <p:pic>
        <p:nvPicPr>
          <p:cNvPr id="35" name="Image 9" descr="preencoded.png"/>
          <p:cNvPicPr>
            <a:picLocks noChangeAspect="1"/>
          </p:cNvPicPr>
          <p:nvPr/>
        </p:nvPicPr>
        <p:blipFill>
          <a:blip r:embed="rId3"/>
          <a:stretch>
            <a:fillRect/>
          </a:stretch>
        </p:blipFill>
        <p:spPr>
          <a:xfrm>
            <a:off x="4800600" y="4123944"/>
            <a:ext cx="164592" cy="164592"/>
          </a:xfrm>
          <a:prstGeom prst="rect">
            <a:avLst/>
          </a:prstGeom>
        </p:spPr>
      </p:pic>
      <p:sp>
        <p:nvSpPr>
          <p:cNvPr id="36" name="Text 24"/>
          <p:cNvSpPr/>
          <p:nvPr/>
        </p:nvSpPr>
        <p:spPr>
          <a:xfrm>
            <a:off x="5029200" y="4096512"/>
            <a:ext cx="3639312" cy="384048"/>
          </a:xfrm>
          <a:prstGeom prst="rect">
            <a:avLst/>
          </a:prstGeom>
          <a:noFill/>
          <a:ln/>
        </p:spPr>
        <p:txBody>
          <a:bodyPr wrap="square" rtlCol="0" anchor="ctr"/>
          <a:lstStyle/>
          <a:p>
            <a:pPr marL="0" indent="0">
              <a:buNone/>
            </a:pPr>
            <a:r>
              <a:rPr lang="en-US" sz="1050" dirty="0">
                <a:solidFill>
                  <a:srgbClr val="C8E6F5"/>
                </a:solidFill>
                <a:latin typeface="Calibri" pitchFamily="34" charset="0"/>
                <a:ea typeface="Calibri" pitchFamily="34" charset="-122"/>
                <a:cs typeface="Calibri" pitchFamily="34" charset="-120"/>
              </a:rPr>
              <a:t>New features based on MFI feedback and business needs</a:t>
            </a:r>
            <a:endParaRPr lang="en-US" sz="1050" dirty="0"/>
          </a:p>
        </p:txBody>
      </p:sp>
      <p:sp>
        <p:nvSpPr>
          <p:cNvPr id="37" name="Text 25"/>
          <p:cNvSpPr/>
          <p:nvPr/>
        </p:nvSpPr>
        <p:spPr>
          <a:xfrm>
            <a:off x="548640" y="4846320"/>
            <a:ext cx="8046720" cy="228600"/>
          </a:xfrm>
          <a:prstGeom prst="rect">
            <a:avLst/>
          </a:prstGeom>
          <a:noFill/>
          <a:ln/>
        </p:spPr>
        <p:txBody>
          <a:bodyPr wrap="square" lIns="0" tIns="0" rIns="0" bIns="0" rtlCol="0" anchor="ctr"/>
          <a:lstStyle/>
          <a:p>
            <a:pPr marL="0" indent="0" algn="ctr">
              <a:buNone/>
            </a:pPr>
            <a:r>
              <a:rPr lang="en-US" sz="1050" i="1" dirty="0">
                <a:solidFill>
                  <a:srgbClr val="4E8FA3"/>
                </a:solidFill>
                <a:latin typeface="Calibri" pitchFamily="34" charset="0"/>
                <a:ea typeface="Calibri" pitchFamily="34" charset="-122"/>
                <a:cs typeface="Calibri" pitchFamily="34" charset="-120"/>
              </a:rPr>
              <a:t>Week 1 = understand the system.  Weeks 2–3 = make it run.  Week 4+ = make it yours.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3199</Words>
  <Application>Microsoft Office PowerPoint</Application>
  <PresentationFormat>On-screen Show (16:9)</PresentationFormat>
  <Paragraphs>269</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MifosX4MM Team Overview</dc:title>
  <dc:subject>PptxGenJS Presentation</dc:subject>
  <dc:creator>MifosX4MM Team</dc:creator>
  <cp:lastModifiedBy>YE MOE</cp:lastModifiedBy>
  <cp:revision>5</cp:revision>
  <dcterms:created xsi:type="dcterms:W3CDTF">2026-06-05T04:59:54Z</dcterms:created>
  <dcterms:modified xsi:type="dcterms:W3CDTF">2026-06-05T07:53:32Z</dcterms:modified>
</cp:coreProperties>
</file>